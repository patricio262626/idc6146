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358CFA3-DDF0-45F6-AB98-64B235E78117}">
  <a:tblStyle styleId="{6358CFA3-DDF0-45F6-AB98-64B235E7811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598941D-8F32-4270-B873-EF282842500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slide" Target="slides/slide41.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d371e5dd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d371e5dd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ae2951610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ae2951610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ae29516109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ae29516109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d371e5dd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d371e5dd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d371e5dd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d371e5dd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ad371e5dd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ad371e5dd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d371e5dd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d371e5dd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After discretizing the target variable, the team pivoted to utilizing a multi-class </a:t>
            </a:r>
            <a:r>
              <a:rPr lang="en"/>
              <a:t>logistic</a:t>
            </a:r>
            <a:r>
              <a:rPr lang="en"/>
              <a:t> regression model. Next slide.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d371e5dd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d371e5dd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team initially explored using ‘titles’ as the predictive features, and later pivoted to the article’s keywords.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logistic </a:t>
            </a:r>
            <a:r>
              <a:rPr lang="en"/>
              <a:t>regression</a:t>
            </a:r>
            <a:r>
              <a:rPr lang="en"/>
              <a:t> models utilized Term-Frequency Inverse-Document Frequency, which</a:t>
            </a:r>
            <a:r>
              <a:rPr lang="en"/>
              <a:t> is a method used in natural language processing that transforms text into numerical vectors by prioritizing words that have a high frequency in a single document but are rare against the entire collection of documents.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account for the target variable’s temporal nature, we then lagged the features. Thus, the predictive features for a </a:t>
            </a:r>
            <a:r>
              <a:rPr lang="en"/>
              <a:t>single week were the top keywords for the previous three weeks. Next slide.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d371e5dd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d371e5dd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picture shows what the feature matrix looks like. Next slide.</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d371e5dd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d371e5dd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first 157 weeks, were used for the training data, while the last 20% of the data (~ 40 weeks) was used for testing. Next slide.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d371e5ddd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d371e5ddd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One thing we noticed was our target variable classes were imbalanced within the training set, so naturally the model will predict the majority class well but have poor performance on the minority class. Thus, by setting the class balancing flag within the logistic regression pipeline, we forced to model to increase the penalty for misclassifying a minority class instance. Next slide.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Addressing Skewed Data Distribution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Problem: The alert counts are not uniformly distributed across the four buckets ('low', 'average', 'high', 'very_high'). It is highly likely that the 'low' bucket is predominant, while the 'very_high' bucket is rare (a minority class).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Effect: A standard classifier trained on this skewed data will naturally achieve high accuracy by simply predicting the majority class ('low') most of the time. However, this model will be useless for the minority classes (the alerts we actually care about forecasting), as its ability to distinguish between 'high' and 'very_high' will be poor.</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class_weight = ‘balanced’ Solution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a:t>
            </a:r>
            <a:r>
              <a:rPr lang="en" sz="1300">
                <a:solidFill>
                  <a:schemeClr val="dk1"/>
                </a:solidFill>
              </a:rPr>
              <a:t>class_weight = ‘balanced’ </a:t>
            </a:r>
            <a:r>
              <a:rPr lang="en">
                <a:solidFill>
                  <a:schemeClr val="dk1"/>
                </a:solidFill>
              </a:rPr>
              <a:t>parameter automatically computes weights inversely proportional to the class frequencies in the input data:</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Benefit: During training, this technique: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Increases the penalty for misclassifying a minority class instance ('very_high').</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Decreases the penalty for misclassifying a majority class instance ('low').</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forces the model to pay more attention to the rare, but important, classes, making the overall decision boundary more robust and improving performance on the minority groups.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Evaluating with the F1-Weighted Score</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choice of F1-Weighted Score as the primary evaluation metric is directly linked to class balancing.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Unlike simple Accuracy, the F1-Weighted Score takes into account the proportion of each class, providing a more reliable measure of performance when class imbalance is present.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goal of class balancing is to maximize this metric, ensuring that the final model is a practical and effective predictor for all alert levels, not just the most common one.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d371e5dd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d371e5dd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overview of our first logistic regression model, or what we considered to be the baseline logistic regression model. The model had high performance on the training set, but had markedly different performance on the testing set, suggesting that the model might be overfitting to the data. There is the </a:t>
            </a:r>
            <a:r>
              <a:rPr lang="en"/>
              <a:t>possibility</a:t>
            </a:r>
            <a:r>
              <a:rPr lang="en"/>
              <a:t> of other influential factors; however, we isolated our optimization strategies to first target overfitting. Next slide.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d371e5dd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d371e5dd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plots the model’s predictions (in orange) vs. the actual predictions (in blue). Next slide.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ad371e5ddd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ad371e5ddd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Conversely, you can see that the model performed extremely poorly on the testing data. Next slide.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d371e5ddd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d371e5ddd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problem associated with using TF-IDF vectorization is that the same core word can appear in many different forms (running, ran, runs), which are treated as separate, distinct features. This essentially inflates the overall vocabulary size and can cause overfitting.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Lemmatization is a technique which reduces a word to its base form (running, ran, runs all become run). This reduces the feature dimensionality and also allows the chosen features to become more representative of the article’s context. Thus, in the second model, we applied lemmatization prior to the TF-IDF vectorization, changing the keywords and associated vectors, resulting in improved performance metrics on the testing data. Next slide.</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Problem: In text data, the same core concept can appear in many different inflected forms (e.g., "running," "ran," "runs"). Without processing, the TfidfVectorizer treats each of these as a separate, distinct feature.</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Effect: This leads to a highly sparse feature matrix (many columns with mostly zero values) and inflates the overall vocabulary size. A larger vocabulary makes the model more complex and prone to overfitting.</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Lemmatization Solution: Lemmatization reduces a word to its base or dictionary form, known as its lemma (e.g., "running," "ran," and "runs" all become "run"). By grouping these variations, we: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Reduce Feature Dimensionality: The model learns a relationship for the single lemma "run" instead of three separate word forms.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Increase Feature Density: The TF-IDF score for "run" is based on all its variations, making the feature more representative and robust.</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d371e5dd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d371e5dd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In model #3, we wanted to tackle some of what we perceived as overfitting by optimizing the regularization parameter, where a larger C parameter penalizes misclassifications less and a smaller C parameter assigns higher penalties to misclassification. Due to the class-imbalance, the optimal parameter was selected based upon achieving the best possible F1-weighted score. Next slide.</a:t>
            </a:r>
            <a:endParaRPr b="1" sz="1700">
              <a:solidFill>
                <a:schemeClr val="dk1"/>
              </a:solidFill>
            </a:endParaRPr>
          </a:p>
          <a:p>
            <a:pPr indent="0" lvl="0" marL="0" rtl="0" algn="l">
              <a:lnSpc>
                <a:spcPct val="115000"/>
              </a:lnSpc>
              <a:spcBef>
                <a:spcPts val="12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t/>
            </a:r>
            <a:endParaRPr b="1" sz="1700">
              <a:solidFill>
                <a:schemeClr val="dk1"/>
              </a:solidFill>
            </a:endParaRPr>
          </a:p>
          <a:p>
            <a:pPr indent="0" lvl="0" marL="0" rtl="0" algn="l">
              <a:lnSpc>
                <a:spcPct val="115000"/>
              </a:lnSpc>
              <a:spcBef>
                <a:spcPts val="1200"/>
              </a:spcBef>
              <a:spcAft>
                <a:spcPts val="0"/>
              </a:spcAft>
              <a:buNone/>
            </a:pPr>
            <a:r>
              <a:rPr b="1" lang="en" sz="1700">
                <a:solidFill>
                  <a:schemeClr val="dk1"/>
                </a:solidFill>
              </a:rPr>
              <a:t>L2 regularization - Ridge</a:t>
            </a:r>
            <a:endParaRPr baseline="30000" sz="2000">
              <a:solidFill>
                <a:schemeClr val="dk1"/>
              </a:solidFill>
            </a:endParaRPr>
          </a:p>
          <a:p>
            <a:pPr indent="0" lvl="0" marL="0" rtl="0" algn="l">
              <a:lnSpc>
                <a:spcPct val="115000"/>
              </a:lnSpc>
              <a:spcBef>
                <a:spcPts val="1200"/>
              </a:spcBef>
              <a:spcAft>
                <a:spcPts val="0"/>
              </a:spcAft>
              <a:buNone/>
            </a:pPr>
            <a:r>
              <a:rPr lang="en" sz="1300">
                <a:solidFill>
                  <a:schemeClr val="dk1"/>
                </a:solidFill>
              </a:rPr>
              <a:t>1. Combating Overfitting in High-Dimensional Data</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Problem: The TF-IDF vectorization resulted in a high-dimensional feature space (up to 5000 features per lag, totaling up to 15,000 features). When the number of features approaches or exceeds the number of samples, a model like Logistic Regression can assign extremely large weights to specific, non-generalizable keywords.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Effect: This allows the model to perfectly fit the noise and idiosyncrasies of the training data, leading to the high training score (Accuracy: 88.54%) and disastrous test score (Accuracy: 15.00%).</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Regularization Solution: L2 Regularization adds a penalty term to the model's loss function, proportional to the square of the magnitude of the coefficients.</a:t>
            </a:r>
            <a:endParaRPr baseline="30000" sz="2000">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This forces the model to choose smaller, more conservative weights.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By shrinking the weights, the model becomes less sensitive to any single keyword, promoting a smoother decision boundary and improving its ability to generalize to unseen test data.</a:t>
            </a:r>
            <a:endParaRPr baseline="30000" sz="2000">
              <a:solidFill>
                <a:schemeClr val="dk1"/>
              </a:solidFill>
            </a:endParaRPr>
          </a:p>
          <a:p>
            <a:pPr indent="0" lvl="0" marL="0" rtl="0" algn="l">
              <a:lnSpc>
                <a:spcPct val="115000"/>
              </a:lnSpc>
              <a:spcBef>
                <a:spcPts val="1200"/>
              </a:spcBef>
              <a:spcAft>
                <a:spcPts val="0"/>
              </a:spcAft>
              <a:buNone/>
            </a:pPr>
            <a:r>
              <a:rPr lang="en" sz="1300">
                <a:solidFill>
                  <a:schemeClr val="dk1"/>
                </a:solidFill>
              </a:rPr>
              <a:t>2. Tuning the Complexity with the C Parameter</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In scikit-learn’s Logistic Regression, the regularization strength is controlled by the parameter C, which is the inverse of the regularization strength.</a:t>
            </a:r>
            <a:endParaRPr baseline="30000" sz="2000">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Large C: Less penalty, more complex model, higher risk of overfitting.</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Small C: Heavy penalty, simpler model, higher risk of underfitting.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GridSearchCV with TimeSeriesSplit was crucial 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We used this process to systematically search for the optimal value of Cthat achieves the best possible F1-Weighted score on the validation sets, ensuring the optimal balance between bias (underfitting) and variance (overfitting).</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d371e5ddd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d371e5ddd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Finally, dimensionality reduction, implemented via Principal Component Analysis (PCA), was a critical strategy to improve model stability and performance within our high-dimensional feature space, which was causing significant overfitting of the model. PCA identifies the components that capture maximum variance in the original data and then uses those features as predictors, helping to remove the noise. </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We implemented the same tuning strategy; however, in model #4 we tuned both the regularization parameter and the number of components in tandem, giving the final iteration of the model and the best performance. </a:t>
            </a:r>
            <a:r>
              <a:rPr lang="en">
                <a:solidFill>
                  <a:schemeClr val="dk1"/>
                </a:solidFill>
              </a:rPr>
              <a:t>Next slide.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d371e5ddd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d371e5ddd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d371e5ddd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d371e5ddd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d371e5ddd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d371e5ddd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d371e5ddd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d371e5ddd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d371e5ddd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d371e5ddd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ad371e5dd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ad371e5dd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d371e5ddd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d371e5dd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d371e5ddd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d371e5ddd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ae2eabb40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ae2eabb40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d371e5ddd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d371e5ddd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Dimensionality reduction, implemented via Principal Component Analysis (PCA), was a critical strategy to improve model stability and performance within our high-dimensional feature space.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d371e5ddd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d371e5ddd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Dimensionality reduction, implemented via Principal Component Analysis (PCA), was a critical strategy to improve model stability and performance within our high-dimensional feature space.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e2eabb40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e2eabb40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Dimensionality reduction, implemented via Principal Component Analysis (PCA), was a critical strategy to improve model stability and performance within our high-dimensional feature space.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ad371e5ddd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ad371e5ddd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Dimensionality reduction, implemented via Principal Component Analysis (PCA), was a critical strategy to improve model stability and performance within our high-dimensional feature space.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aef4cf37e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aef4cf37e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Dimensionality reduction, implemented via Principal Component Analysis (PCA), was a critical strategy to improve model stability and performance within our high-dimensional feature space.</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1. The Need for Reduction</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High Feature Count: The process of creating TF-IDF features and then lagging them (up to 3 weeks) resulted in a feature matrix with thousands of columns (up to 15,000 features).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Consequences: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Overfitting Risk: A model with too many features can easily memorize the training data, leading to the massive train/test performance gap observed previously.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Computational Cost: Training the model becomes slower and more resource-intensive.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Multicollinearity: Many TF-IDF features are likely highly correlated, which can destabilize the Logistic Regression coefficient estimates.</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2. The PCA Mechanism</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PCA is an unsupervised technique used to linearly transform the features into a new set of dimensions called Principal Components.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It works by finding the directions (components) that capture the maximum variance in the original data.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first few components capture most of the meaningful information, while later components capture noise.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Pipeline Integration: PCA was inserted into the pcaRegPipeline after standard scaling (StandardScaler) to ensure all features contribute equally to the variance calculation.</a:t>
            </a:r>
            <a:endParaRPr>
              <a:solidFill>
                <a:schemeClr val="dk1"/>
              </a:solidFill>
            </a:endParaRPr>
          </a:p>
          <a:p>
            <a:pPr indent="0" lvl="0" marL="0" rtl="0" algn="l">
              <a:lnSpc>
                <a:spcPct val="115000"/>
              </a:lnSpc>
              <a:spcBef>
                <a:spcPts val="1200"/>
              </a:spcBef>
              <a:spcAft>
                <a:spcPts val="0"/>
              </a:spcAft>
              <a:buNone/>
            </a:pPr>
            <a:r>
              <a:rPr lang="en" sz="1300">
                <a:solidFill>
                  <a:schemeClr val="dk1"/>
                </a:solidFill>
              </a:rPr>
              <a:t>3. Tuning pca_n_components</a:t>
            </a:r>
            <a:endParaRPr sz="1300">
              <a:solidFill>
                <a:schemeClr val="dk1"/>
              </a:solidFill>
            </a:endParaRPr>
          </a:p>
          <a:p>
            <a:pPr indent="-298450" lvl="0" marL="457200" rtl="0" algn="l">
              <a:lnSpc>
                <a:spcPct val="115000"/>
              </a:lnSpc>
              <a:spcBef>
                <a:spcPts val="400"/>
              </a:spcBef>
              <a:spcAft>
                <a:spcPts val="0"/>
              </a:spcAft>
              <a:buClr>
                <a:schemeClr val="dk1"/>
              </a:buClr>
              <a:buSzPts val="1100"/>
              <a:buChar char="●"/>
            </a:pPr>
            <a:r>
              <a:rPr lang="en">
                <a:solidFill>
                  <a:schemeClr val="dk1"/>
                </a:solidFill>
              </a:rPr>
              <a:t>The key hyperparameter tuned using GridSearchCV was $\mathbf{pca\_\_n\_components}$, which determines the number of principal components to retain.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Goal: To find the smallest number of components that still retains enough predictive power to maximize the F1-Weighted Score.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By tuning this parameter, we simultaneously:</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Remove Noise: Discarding low-variance components that likely contain little predictive information.</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Regularize the Model: Creating a much smaller, more stable set of input features for the final Logistic Regression classifier, which effectively works as a form of regularization.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e295161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e295161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d371e5dd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d371e5dd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Lemmatization helps ensure that the model correctly groups keywords that are semantically similar but syntactically different.</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Custom Corrections: We implemented manual keyword_corrections (e.g., 'zelenskyys' -&gt; 'zelensky') to standardize proper nouns that the automatic lemmatizer might miss, further ensuring consistency across the time series.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 a time-series forecasting problem, generalization is critical. The model must predict future alert counts based on unseen keywords.</a:t>
            </a:r>
            <a:endParaRPr>
              <a:solidFill>
                <a:schemeClr val="dk1"/>
              </a:solidFill>
            </a:endParaRPr>
          </a:p>
          <a:p>
            <a:pPr indent="0" lvl="0" marL="0" rtl="0" algn="l">
              <a:lnSpc>
                <a:spcPct val="115000"/>
              </a:lnSpc>
              <a:spcBef>
                <a:spcPts val="0"/>
              </a:spcBef>
              <a:spcAft>
                <a:spcPts val="0"/>
              </a:spcAft>
              <a:buNone/>
            </a:pPr>
            <a:r>
              <a:rPr lang="en">
                <a:solidFill>
                  <a:schemeClr val="dk1"/>
                </a:solidFill>
              </a:rPr>
              <a:t>By using lemmas, the model is less likely to overfit to the exact phrasing or inflection used in a specific training week. It focuses on the root concept of the keyword.</a:t>
            </a:r>
            <a:endParaRPr>
              <a:solidFill>
                <a:schemeClr val="dk1"/>
              </a:solidFill>
            </a:endParaRPr>
          </a:p>
          <a:p>
            <a:pPr indent="0" lvl="0" marL="0" rtl="0" algn="l">
              <a:lnSpc>
                <a:spcPct val="115000"/>
              </a:lnSpc>
              <a:spcBef>
                <a:spcPts val="0"/>
              </a:spcBef>
              <a:spcAft>
                <a:spcPts val="0"/>
              </a:spcAft>
              <a:buNone/>
            </a:pPr>
            <a:r>
              <a:rPr lang="en">
                <a:solidFill>
                  <a:schemeClr val="dk1"/>
                </a:solidFill>
              </a:rPr>
              <a:t>If a keyword like "negotiations" appears in the training set and "negotiating" appears in the test set, lemmatization ensures the model recognizes them as the same feature, leading to better generalization performance on unseen test data.</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d371e5ddd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d371e5ddd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Lemmatization helps ensure that the model correctly groups keywords that are semantically similar but syntactically different.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Custom Corrections: We implemented manual keyword_corrections (e.g., 'zelenskyys' -&gt; 'zelensky') to standardize proper nouns that the automatic lemmatizer might miss, further ensuring consistency across the time series.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 a time-series forecasting problem, generalization is critical. The model must predict future alert counts based on unseen keywords.</a:t>
            </a:r>
            <a:endParaRPr>
              <a:solidFill>
                <a:schemeClr val="dk1"/>
              </a:solidFill>
            </a:endParaRPr>
          </a:p>
          <a:p>
            <a:pPr indent="0" lvl="0" marL="0" rtl="0" algn="l">
              <a:lnSpc>
                <a:spcPct val="115000"/>
              </a:lnSpc>
              <a:spcBef>
                <a:spcPts val="0"/>
              </a:spcBef>
              <a:spcAft>
                <a:spcPts val="0"/>
              </a:spcAft>
              <a:buNone/>
            </a:pPr>
            <a:r>
              <a:rPr lang="en">
                <a:solidFill>
                  <a:schemeClr val="dk1"/>
                </a:solidFill>
              </a:rPr>
              <a:t>By using lemmas, the model is less likely to overfit to the exact phrasing or inflection used in a specific training week. It focuses on the root concept of the keyword.</a:t>
            </a:r>
            <a:endParaRPr>
              <a:solidFill>
                <a:schemeClr val="dk1"/>
              </a:solidFill>
            </a:endParaRPr>
          </a:p>
          <a:p>
            <a:pPr indent="0" lvl="0" marL="0" rtl="0" algn="l">
              <a:lnSpc>
                <a:spcPct val="115000"/>
              </a:lnSpc>
              <a:spcBef>
                <a:spcPts val="0"/>
              </a:spcBef>
              <a:spcAft>
                <a:spcPts val="0"/>
              </a:spcAft>
              <a:buNone/>
            </a:pPr>
            <a:r>
              <a:rPr lang="en">
                <a:solidFill>
                  <a:schemeClr val="dk1"/>
                </a:solidFill>
              </a:rPr>
              <a:t>If a keyword like "negotiations" appears in the training set and "negotiating" appears in the test set, lemmatization ensures the model recognizes them as the same feature, leading to better generalization performance on unseen test data.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ad371e5dd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ad371e5dd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Lemmatization helps ensure that the model correctly groups keywords that are semantically similar but syntactically different.</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Custom Corrections: We implemented manual keyword_corrections (e.g., 'zelenskyys' -&gt; 'zelensky') to standardize proper nouns that the automatic lemmatizer might miss, further ensuring consistency across the time series.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 a time-series forecasting problem, generalization is critical. The model must predict future alert counts based on unseen keywords.</a:t>
            </a:r>
            <a:endParaRPr>
              <a:solidFill>
                <a:schemeClr val="dk1"/>
              </a:solidFill>
            </a:endParaRPr>
          </a:p>
          <a:p>
            <a:pPr indent="0" lvl="0" marL="0" rtl="0" algn="l">
              <a:lnSpc>
                <a:spcPct val="115000"/>
              </a:lnSpc>
              <a:spcBef>
                <a:spcPts val="0"/>
              </a:spcBef>
              <a:spcAft>
                <a:spcPts val="0"/>
              </a:spcAft>
              <a:buNone/>
            </a:pPr>
            <a:r>
              <a:rPr lang="en">
                <a:solidFill>
                  <a:schemeClr val="dk1"/>
                </a:solidFill>
              </a:rPr>
              <a:t>By using lemmas, the model is less likely to overfit to the exact phrasing or inflection used in a specific training week. It focuses on the root concept of the keyword.</a:t>
            </a:r>
            <a:endParaRPr>
              <a:solidFill>
                <a:schemeClr val="dk1"/>
              </a:solidFill>
            </a:endParaRPr>
          </a:p>
          <a:p>
            <a:pPr indent="0" lvl="0" marL="0" rtl="0" algn="l">
              <a:lnSpc>
                <a:spcPct val="115000"/>
              </a:lnSpc>
              <a:spcBef>
                <a:spcPts val="0"/>
              </a:spcBef>
              <a:spcAft>
                <a:spcPts val="0"/>
              </a:spcAft>
              <a:buNone/>
            </a:pPr>
            <a:r>
              <a:rPr lang="en">
                <a:solidFill>
                  <a:schemeClr val="dk1"/>
                </a:solidFill>
              </a:rPr>
              <a:t>If a keyword like "negotiations" appears in the training set and "negotiating" appears in the test set, lemmatization ensures the model recognizes them as the same feature, leading to better generalization performance on unseen test data.</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ad371e5dd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ad371e5dd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d371e5ddd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d371e5ddd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d371e5ddd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d371e5ddd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d371e5ddd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d371e5ddd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d371e5dd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d371e5dd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s://colab.research.google.com/drive/11P0VQtthbUbj81D4VDDso9STlIsk8lN0?usp=sharing"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5866"/>
              <a:t>From Headlines to Alerts:</a:t>
            </a:r>
            <a:endParaRPr sz="5866"/>
          </a:p>
          <a:p>
            <a:pPr indent="0" lvl="0" marL="0" rtl="0" algn="ctr">
              <a:spcBef>
                <a:spcPts val="0"/>
              </a:spcBef>
              <a:spcAft>
                <a:spcPts val="0"/>
              </a:spcAft>
              <a:buNone/>
            </a:pPr>
            <a:r>
              <a:rPr lang="en" sz="4100"/>
              <a:t>Predicting Weekly Compliance Volumes</a:t>
            </a:r>
            <a:endParaRPr sz="4100"/>
          </a:p>
        </p:txBody>
      </p:sp>
      <p:sp>
        <p:nvSpPr>
          <p:cNvPr id="55" name="Google Shape;55;p13"/>
          <p:cNvSpPr txBox="1"/>
          <p:nvPr>
            <p:ph idx="1" type="subTitle"/>
          </p:nvPr>
        </p:nvSpPr>
        <p:spPr>
          <a:xfrm>
            <a:off x="311700" y="2826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“The A-Team”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Baseline Model</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97050" y="33992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EDA and Preliminary Modeling</a:t>
            </a:r>
            <a:endParaRPr/>
          </a:p>
        </p:txBody>
      </p:sp>
      <p:sp>
        <p:nvSpPr>
          <p:cNvPr id="66" name="Google Shape;66;p15"/>
          <p:cNvSpPr txBox="1"/>
          <p:nvPr/>
        </p:nvSpPr>
        <p:spPr>
          <a:xfrm>
            <a:off x="632975" y="1303700"/>
            <a:ext cx="8111400" cy="35211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The first </a:t>
            </a:r>
            <a:r>
              <a:rPr lang="en" sz="1800">
                <a:solidFill>
                  <a:schemeClr val="dk2"/>
                </a:solidFill>
              </a:rPr>
              <a:t>attempts</a:t>
            </a:r>
            <a:r>
              <a:rPr lang="en" sz="1800">
                <a:solidFill>
                  <a:schemeClr val="dk2"/>
                </a:solidFill>
              </a:rPr>
              <a:t> to scrape articles and parse them according to keywords were hindered by the web scraper favoring more recent articles, resulting in a very low overlap between the weeks in the articles and alerts dataframes.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Once this was fixed, a second problem became evident-the number of articles being returned necessitated batch processing of the data, followed by </a:t>
            </a:r>
            <a:r>
              <a:rPr lang="en" sz="1800">
                <a:solidFill>
                  <a:schemeClr val="dk2"/>
                </a:solidFill>
              </a:rPr>
              <a:t>concatenation</a:t>
            </a:r>
            <a:r>
              <a:rPr lang="en" sz="1800">
                <a:solidFill>
                  <a:schemeClr val="dk2"/>
                </a:solidFill>
              </a:rPr>
              <a:t> of the batches.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Poisson regression was run on the data, but the great difference between the mean and variance showed the necessity of trying negative binomial regression.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500325" y="4279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NB, Gradient Boosting Model </a:t>
            </a:r>
            <a:endParaRPr/>
          </a:p>
        </p:txBody>
      </p:sp>
      <p:sp>
        <p:nvSpPr>
          <p:cNvPr id="72" name="Google Shape;72;p16"/>
          <p:cNvSpPr txBox="1"/>
          <p:nvPr/>
        </p:nvSpPr>
        <p:spPr>
          <a:xfrm>
            <a:off x="306000" y="1177925"/>
            <a:ext cx="8589300" cy="3672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Char char="●"/>
            </a:pPr>
            <a:r>
              <a:rPr lang="en" sz="1800">
                <a:solidFill>
                  <a:schemeClr val="dk2"/>
                </a:solidFill>
              </a:rPr>
              <a:t>Because of the collinearity of many of the features, training was </a:t>
            </a:r>
            <a:r>
              <a:rPr lang="en" sz="1800">
                <a:solidFill>
                  <a:schemeClr val="dk2"/>
                </a:solidFill>
              </a:rPr>
              <a:t>severely</a:t>
            </a:r>
            <a:r>
              <a:rPr lang="en" sz="1800">
                <a:solidFill>
                  <a:schemeClr val="dk2"/>
                </a:solidFill>
              </a:rPr>
              <a:t> overfitting.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VIF measures were taken to reduce collinearity, with minimal improvement.</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Gradient boosting (raw, log-transformed, and square-root transformation) were run to compare against the NB model.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MAE and RMSE were not improving with these trials</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It became clear that the extreme variance in alert volumes was making it difficult for the model to perform well on the testing set. </a:t>
            </a:r>
            <a:endParaRPr sz="1800">
              <a:solidFill>
                <a:schemeClr val="dk2"/>
              </a:solidFill>
            </a:endParaRPr>
          </a:p>
          <a:p>
            <a:pPr indent="-342900" lvl="0" marL="457200" rtl="0" algn="l">
              <a:spcBef>
                <a:spcPts val="0"/>
              </a:spcBef>
              <a:spcAft>
                <a:spcPts val="0"/>
              </a:spcAft>
              <a:buClr>
                <a:schemeClr val="dk2"/>
              </a:buClr>
              <a:buSzPts val="1800"/>
              <a:buChar char="●"/>
            </a:pPr>
            <a:r>
              <a:rPr lang="en" sz="1800">
                <a:solidFill>
                  <a:schemeClr val="dk2"/>
                </a:solidFill>
              </a:rPr>
              <a:t>Therefore, the nature of the target </a:t>
            </a:r>
            <a:r>
              <a:rPr lang="en" sz="1800">
                <a:solidFill>
                  <a:schemeClr val="dk2"/>
                </a:solidFill>
              </a:rPr>
              <a:t>variable had to be transformed from raw counts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Purpose &amp; Features</a:t>
            </a:r>
            <a:endParaRPr b="1"/>
          </a:p>
        </p:txBody>
      </p:sp>
      <p:sp>
        <p:nvSpPr>
          <p:cNvPr id="78" name="Google Shape;78;p17"/>
          <p:cNvSpPr txBox="1"/>
          <p:nvPr>
            <p:ph idx="1" type="body"/>
          </p:nvPr>
        </p:nvSpPr>
        <p:spPr>
          <a:xfrm>
            <a:off x="311700" y="1152475"/>
            <a:ext cx="4260300" cy="39909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The team aimed to establish a minimum benchmark for the subsequent, more complex models to beat. </a:t>
            </a:r>
            <a:endParaRPr/>
          </a:p>
          <a:p>
            <a:pPr indent="-342900" lvl="0" marL="457200" rtl="0" algn="l">
              <a:spcBef>
                <a:spcPts val="0"/>
              </a:spcBef>
              <a:spcAft>
                <a:spcPts val="0"/>
              </a:spcAft>
              <a:buSzPts val="1800"/>
              <a:buChar char="●"/>
            </a:pPr>
            <a:r>
              <a:rPr lang="en"/>
              <a:t>The target variable, or the number of alerts, was log-transformed and discretized into four buckets: ‘low’, ‘average’, ‘high’ and ‘very high’ and encoded–0, 1, 2, and 3.</a:t>
            </a:r>
            <a:endParaRPr/>
          </a:p>
          <a:p>
            <a:pPr indent="-342900" lvl="0" marL="457200" rtl="0" algn="l">
              <a:spcBef>
                <a:spcPts val="0"/>
              </a:spcBef>
              <a:spcAft>
                <a:spcPts val="0"/>
              </a:spcAft>
              <a:buSzPts val="1800"/>
              <a:buChar char="●"/>
            </a:pPr>
            <a:r>
              <a:rPr lang="en"/>
              <a:t>These multinomial category targets were used both in the baseline model and in subsequent models of our experiment. </a:t>
            </a:r>
            <a:endParaRPr/>
          </a:p>
          <a:p>
            <a:pPr indent="0" lvl="0" marL="457200" rtl="0" algn="l">
              <a:spcBef>
                <a:spcPts val="1200"/>
              </a:spcBef>
              <a:spcAft>
                <a:spcPts val="1200"/>
              </a:spcAft>
              <a:buNone/>
            </a:pPr>
            <a:r>
              <a:t/>
            </a:r>
            <a:endParaRPr/>
          </a:p>
        </p:txBody>
      </p:sp>
      <p:pic>
        <p:nvPicPr>
          <p:cNvPr id="79" name="Google Shape;79;p17" title="Screenshot 2025-12-03 at 1.57.46 PM.png"/>
          <p:cNvPicPr preferRelativeResize="0"/>
          <p:nvPr/>
        </p:nvPicPr>
        <p:blipFill>
          <a:blip r:embed="rId3">
            <a:alphaModFix/>
          </a:blip>
          <a:stretch>
            <a:fillRect/>
          </a:stretch>
        </p:blipFill>
        <p:spPr>
          <a:xfrm>
            <a:off x="4571991" y="1017725"/>
            <a:ext cx="4475109" cy="3416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Methodology</a:t>
            </a:r>
            <a:endParaRPr b="1"/>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baseline model used a 3-week rolling average of the target buckets, rounded to the nearest integer.</a:t>
            </a:r>
            <a:endParaRPr/>
          </a:p>
          <a:p>
            <a:pPr indent="-342900" lvl="0" marL="457200" rtl="0" algn="l">
              <a:spcBef>
                <a:spcPts val="0"/>
              </a:spcBef>
              <a:spcAft>
                <a:spcPts val="0"/>
              </a:spcAft>
              <a:buSzPts val="1800"/>
              <a:buChar char="●"/>
            </a:pPr>
            <a:r>
              <a:rPr lang="en"/>
              <a:t>The 3-week rolling average was shifted to the subsequent 4th-week. </a:t>
            </a:r>
            <a:endParaRPr/>
          </a:p>
          <a:p>
            <a:pPr indent="0" lvl="0" marL="457200" rtl="0" algn="l">
              <a:spcBef>
                <a:spcPts val="1200"/>
              </a:spcBef>
              <a:spcAft>
                <a:spcPts val="1200"/>
              </a:spcAft>
              <a:buNone/>
            </a:pPr>
            <a:r>
              <a:t/>
            </a:r>
            <a:endParaRPr/>
          </a:p>
        </p:txBody>
      </p:sp>
      <p:pic>
        <p:nvPicPr>
          <p:cNvPr id="86" name="Google Shape;86;p18" title="Screenshot 2025-12-03 at 2.00.43 PM.png"/>
          <p:cNvPicPr preferRelativeResize="0"/>
          <p:nvPr/>
        </p:nvPicPr>
        <p:blipFill>
          <a:blip r:embed="rId3">
            <a:alphaModFix/>
          </a:blip>
          <a:stretch>
            <a:fillRect/>
          </a:stretch>
        </p:blipFill>
        <p:spPr>
          <a:xfrm>
            <a:off x="1709725" y="2737900"/>
            <a:ext cx="5724525" cy="1866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Methodology &amp; Performance</a:t>
            </a:r>
            <a:endParaRPr b="1"/>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 then created a binary variable representing whether the 4th-week’s bucket was equal to that of the 3-week rolling average.</a:t>
            </a:r>
            <a:endParaRPr/>
          </a:p>
          <a:p>
            <a:pPr indent="-342900" lvl="0" marL="457200" rtl="0" algn="l">
              <a:spcBef>
                <a:spcPts val="0"/>
              </a:spcBef>
              <a:spcAft>
                <a:spcPts val="0"/>
              </a:spcAft>
              <a:buSzPts val="1800"/>
              <a:buChar char="●"/>
            </a:pPr>
            <a:r>
              <a:rPr lang="en"/>
              <a:t>The binary variable was averaged across all weeks with available data.</a:t>
            </a:r>
            <a:endParaRPr/>
          </a:p>
          <a:p>
            <a:pPr indent="-342900" lvl="0" marL="457200" rtl="0" algn="l">
              <a:spcBef>
                <a:spcPts val="0"/>
              </a:spcBef>
              <a:spcAft>
                <a:spcPts val="0"/>
              </a:spcAft>
              <a:buSzPts val="1800"/>
              <a:buChar char="●"/>
            </a:pPr>
            <a:r>
              <a:rPr lang="en"/>
              <a:t>This served as the foundational </a:t>
            </a:r>
            <a:r>
              <a:rPr lang="en"/>
              <a:t>accuracy</a:t>
            </a:r>
            <a:r>
              <a:rPr lang="en"/>
              <a:t> we sought to beat with our model.</a:t>
            </a:r>
            <a:endParaRPr/>
          </a:p>
          <a:p>
            <a:pPr indent="0" lvl="0" marL="457200" rtl="0" algn="l">
              <a:spcBef>
                <a:spcPts val="1200"/>
              </a:spcBef>
              <a:spcAft>
                <a:spcPts val="1200"/>
              </a:spcAft>
              <a:buNone/>
            </a:pPr>
            <a:r>
              <a:t/>
            </a:r>
            <a:endParaRPr/>
          </a:p>
        </p:txBody>
      </p:sp>
      <p:graphicFrame>
        <p:nvGraphicFramePr>
          <p:cNvPr id="93" name="Google Shape;93;p19"/>
          <p:cNvGraphicFramePr/>
          <p:nvPr/>
        </p:nvGraphicFramePr>
        <p:xfrm>
          <a:off x="913075" y="3045825"/>
          <a:ext cx="3000000" cy="3000000"/>
        </p:xfrm>
        <a:graphic>
          <a:graphicData uri="http://schemas.openxmlformats.org/drawingml/2006/table">
            <a:tbl>
              <a:tblPr>
                <a:noFill/>
                <a:tableStyleId>{6358CFA3-DDF0-45F6-AB98-64B235E78117}</a:tableStyleId>
              </a:tblPr>
              <a:tblGrid>
                <a:gridCol w="3619500"/>
                <a:gridCol w="3619500"/>
              </a:tblGrid>
              <a:tr h="381000">
                <a:tc>
                  <a:txBody>
                    <a:bodyPr/>
                    <a:lstStyle/>
                    <a:p>
                      <a:pPr indent="0" lvl="0" marL="0" rtl="0" algn="ctr">
                        <a:spcBef>
                          <a:spcPts val="0"/>
                        </a:spcBef>
                        <a:spcAft>
                          <a:spcPts val="0"/>
                        </a:spcAft>
                        <a:buNone/>
                      </a:pPr>
                      <a:r>
                        <a:rPr b="1" lang="en"/>
                        <a:t>Model:</a:t>
                      </a:r>
                      <a:endParaRPr b="1"/>
                    </a:p>
                  </a:txBody>
                  <a:tcPr marT="91425" marB="91425" marR="91425" marL="91425">
                    <a:noFill/>
                  </a:tcPr>
                </a:tc>
                <a:tc>
                  <a:txBody>
                    <a:bodyPr/>
                    <a:lstStyle/>
                    <a:p>
                      <a:pPr indent="0" lvl="0" marL="0" rtl="0" algn="ctr">
                        <a:spcBef>
                          <a:spcPts val="0"/>
                        </a:spcBef>
                        <a:spcAft>
                          <a:spcPts val="0"/>
                        </a:spcAft>
                        <a:buNone/>
                      </a:pPr>
                      <a:r>
                        <a:rPr b="1" lang="en"/>
                        <a:t>Accuracy:</a:t>
                      </a:r>
                      <a:endParaRPr b="1"/>
                    </a:p>
                  </a:txBody>
                  <a:tcPr marT="91425" marB="91425" marR="91425" marL="91425">
                    <a:noFill/>
                  </a:tcPr>
                </a:tc>
              </a:tr>
              <a:tr h="381000">
                <a:tc>
                  <a:txBody>
                    <a:bodyPr/>
                    <a:lstStyle/>
                    <a:p>
                      <a:pPr indent="0" lvl="0" marL="0" rtl="0" algn="ctr">
                        <a:spcBef>
                          <a:spcPts val="0"/>
                        </a:spcBef>
                        <a:spcAft>
                          <a:spcPts val="0"/>
                        </a:spcAft>
                        <a:buNone/>
                      </a:pPr>
                      <a:r>
                        <a:rPr lang="en"/>
                        <a:t>Baseline</a:t>
                      </a:r>
                      <a:endParaRPr/>
                    </a:p>
                  </a:txBody>
                  <a:tcPr marT="91425" marB="91425" marR="91425" marL="91425">
                    <a:noFill/>
                  </a:tcPr>
                </a:tc>
                <a:tc>
                  <a:txBody>
                    <a:bodyPr/>
                    <a:lstStyle/>
                    <a:p>
                      <a:pPr indent="0" lvl="0" marL="0" rtl="0" algn="ctr">
                        <a:spcBef>
                          <a:spcPts val="0"/>
                        </a:spcBef>
                        <a:spcAft>
                          <a:spcPts val="0"/>
                        </a:spcAft>
                        <a:buNone/>
                      </a:pPr>
                      <a:r>
                        <a:rPr lang="en"/>
                        <a:t>60.82%</a:t>
                      </a:r>
                      <a:endParaRPr/>
                    </a:p>
                  </a:txBody>
                  <a:tcPr marT="91425" marB="91425" marR="91425" marL="91425">
                    <a:no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Logistic Regression Model</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Feature Engineering - Keywords</a:t>
            </a:r>
            <a:endParaRPr b="1"/>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Several parallel model development pipelines were explored early on in the process. </a:t>
            </a:r>
            <a:endParaRPr/>
          </a:p>
          <a:p>
            <a:pPr indent="-342900" lvl="0" marL="457200" rtl="0" algn="l">
              <a:spcBef>
                <a:spcPts val="0"/>
              </a:spcBef>
              <a:spcAft>
                <a:spcPts val="0"/>
              </a:spcAft>
              <a:buSzPts val="1800"/>
              <a:buChar char="●"/>
            </a:pPr>
            <a:r>
              <a:rPr lang="en"/>
              <a:t>Using titles and the TfidfVectorizer was one such model that was improved upon throughout development. First, applying the TfidfVectorizer to Article Text, and then finally to Keywords extracted from Articles.</a:t>
            </a:r>
            <a:endParaRPr/>
          </a:p>
          <a:p>
            <a:pPr indent="-342900" lvl="0" marL="457200" rtl="0" algn="l">
              <a:spcBef>
                <a:spcPts val="0"/>
              </a:spcBef>
              <a:spcAft>
                <a:spcPts val="0"/>
              </a:spcAft>
              <a:buSzPts val="1800"/>
              <a:buChar char="●"/>
            </a:pPr>
            <a:r>
              <a:rPr lang="en"/>
              <a:t>To predict the current week’s alert bucket, we use keyword information from the three previous weeks, creating new feature columns for each lagged week, approximately 15,000 features.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Feature Engineering - Keywords</a:t>
            </a:r>
            <a:endParaRPr b="1"/>
          </a:p>
        </p:txBody>
      </p:sp>
      <p:pic>
        <p:nvPicPr>
          <p:cNvPr id="110" name="Google Shape;110;p22" title="Screenshot 2025-12-03 at 2.06.54 PM.png"/>
          <p:cNvPicPr preferRelativeResize="0"/>
          <p:nvPr/>
        </p:nvPicPr>
        <p:blipFill>
          <a:blip r:embed="rId3">
            <a:alphaModFix/>
          </a:blip>
          <a:stretch>
            <a:fillRect/>
          </a:stretch>
        </p:blipFill>
        <p:spPr>
          <a:xfrm>
            <a:off x="862000" y="1638300"/>
            <a:ext cx="7419975" cy="1866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Splitting</a:t>
            </a:r>
            <a:endParaRPr b="1"/>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adhere to the chronological order of the data, a chronological 80% Train / 20% Test split was used.</a:t>
            </a:r>
            <a:endParaRPr/>
          </a:p>
          <a:p>
            <a:pPr indent="0" lvl="0" marL="457200" rtl="0" algn="l">
              <a:spcBef>
                <a:spcPts val="1200"/>
              </a:spcBef>
              <a:spcAft>
                <a:spcPts val="1200"/>
              </a:spcAft>
              <a:buNone/>
            </a:pPr>
            <a:r>
              <a:t/>
            </a:r>
            <a:endParaRPr/>
          </a:p>
        </p:txBody>
      </p:sp>
      <p:graphicFrame>
        <p:nvGraphicFramePr>
          <p:cNvPr id="117" name="Google Shape;117;p23"/>
          <p:cNvGraphicFramePr/>
          <p:nvPr/>
        </p:nvGraphicFramePr>
        <p:xfrm>
          <a:off x="2262188" y="2174875"/>
          <a:ext cx="3000000" cy="3000000"/>
        </p:xfrm>
        <a:graphic>
          <a:graphicData uri="http://schemas.openxmlformats.org/drawingml/2006/table">
            <a:tbl>
              <a:tblPr>
                <a:noFill/>
                <a:tableStyleId>{9598941D-8F32-4270-B873-EF2828425004}</a:tableStyleId>
              </a:tblPr>
              <a:tblGrid>
                <a:gridCol w="1628775"/>
                <a:gridCol w="1495425"/>
                <a:gridCol w="1495425"/>
              </a:tblGrid>
              <a:tr h="342900">
                <a:tc>
                  <a:txBody>
                    <a:bodyPr/>
                    <a:lstStyle/>
                    <a:p>
                      <a:pPr indent="0" lvl="0" marL="0" rtl="0" algn="ctr">
                        <a:lnSpc>
                          <a:spcPct val="115000"/>
                        </a:lnSpc>
                        <a:spcBef>
                          <a:spcPts val="0"/>
                        </a:spcBef>
                        <a:spcAft>
                          <a:spcPts val="0"/>
                        </a:spcAft>
                        <a:buNone/>
                      </a:pPr>
                      <a:r>
                        <a:rPr b="1" lang="en"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Rows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Columns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ctr">
                        <a:lnSpc>
                          <a:spcPct val="115000"/>
                        </a:lnSpc>
                        <a:spcBef>
                          <a:spcPts val="0"/>
                        </a:spcBef>
                        <a:spcAft>
                          <a:spcPts val="0"/>
                        </a:spcAft>
                        <a:buNone/>
                      </a:pPr>
                      <a:r>
                        <a:rPr lang="en" sz="1100">
                          <a:solidFill>
                            <a:srgbClr val="1F1F1F"/>
                          </a:solidFill>
                        </a:rPr>
                        <a:t>X_train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15,000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lang="en" sz="1100">
                          <a:solidFill>
                            <a:srgbClr val="1F1F1F"/>
                          </a:solidFill>
                        </a:rPr>
                        <a:t>y_train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lang="en" sz="1100">
                          <a:solidFill>
                            <a:srgbClr val="1F1F1F"/>
                          </a:solidFill>
                        </a:rPr>
                        <a:t>X_test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40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15,000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lang="en" sz="1100">
                          <a:solidFill>
                            <a:srgbClr val="1F1F1F"/>
                          </a:solidFill>
                        </a:rPr>
                        <a:t>y_test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40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Improvement Strategy #1: Class Balancing</a:t>
            </a:r>
            <a:endParaRPr b="1"/>
          </a:p>
        </p:txBody>
      </p:sp>
      <p:sp>
        <p:nvSpPr>
          <p:cNvPr id="123" name="Google Shape;123;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Problem:</a:t>
            </a:r>
            <a:endParaRPr b="1"/>
          </a:p>
          <a:p>
            <a:pPr indent="-317500" lvl="1" marL="914400" rtl="0" algn="l">
              <a:spcBef>
                <a:spcPts val="0"/>
              </a:spcBef>
              <a:spcAft>
                <a:spcPts val="0"/>
              </a:spcAft>
              <a:buSzPts val="1400"/>
              <a:buChar char="○"/>
            </a:pPr>
            <a:r>
              <a:rPr lang="en"/>
              <a:t>The alert counts are not uniformly distributed across the four buckets. </a:t>
            </a:r>
            <a:endParaRPr/>
          </a:p>
          <a:p>
            <a:pPr indent="-317500" lvl="1" marL="914400" rtl="0" algn="l">
              <a:spcBef>
                <a:spcPts val="0"/>
              </a:spcBef>
              <a:spcAft>
                <a:spcPts val="0"/>
              </a:spcAft>
              <a:buSzPts val="1400"/>
              <a:buChar char="○"/>
            </a:pPr>
            <a:r>
              <a:rPr lang="en"/>
              <a:t>The ‘low’ bucket dominates, while the ‘very_high’ bucket is rare.</a:t>
            </a:r>
            <a:endParaRPr/>
          </a:p>
          <a:p>
            <a:pPr indent="-342900" lvl="0" marL="457200" rtl="0" algn="l">
              <a:spcBef>
                <a:spcPts val="0"/>
              </a:spcBef>
              <a:spcAft>
                <a:spcPts val="0"/>
              </a:spcAft>
              <a:buSzPts val="1800"/>
              <a:buChar char="●"/>
            </a:pPr>
            <a:r>
              <a:rPr b="1" lang="en"/>
              <a:t>Effect:</a:t>
            </a:r>
            <a:endParaRPr b="1"/>
          </a:p>
          <a:p>
            <a:pPr indent="-317500" lvl="1" marL="914400" rtl="0" algn="l">
              <a:spcBef>
                <a:spcPts val="0"/>
              </a:spcBef>
              <a:spcAft>
                <a:spcPts val="0"/>
              </a:spcAft>
              <a:buSzPts val="1400"/>
              <a:buChar char="○"/>
            </a:pPr>
            <a:r>
              <a:rPr lang="en"/>
              <a:t>A standard classifier will naturally achieve high accuracy by predicting the majority class most of the time. </a:t>
            </a:r>
            <a:endParaRPr/>
          </a:p>
          <a:p>
            <a:pPr indent="-317500" lvl="1" marL="914400" rtl="0" algn="l">
              <a:spcBef>
                <a:spcPts val="0"/>
              </a:spcBef>
              <a:spcAft>
                <a:spcPts val="0"/>
              </a:spcAft>
              <a:buSzPts val="1400"/>
              <a:buChar char="○"/>
            </a:pPr>
            <a:r>
              <a:rPr lang="en"/>
              <a:t>Poor performance on the minority class. </a:t>
            </a:r>
            <a:endParaRPr/>
          </a:p>
          <a:p>
            <a:pPr indent="-317500" lvl="1" marL="914400" rtl="0" algn="l">
              <a:spcBef>
                <a:spcPts val="0"/>
              </a:spcBef>
              <a:spcAft>
                <a:spcPts val="0"/>
              </a:spcAft>
              <a:buSzPts val="1400"/>
              <a:buChar char="○"/>
            </a:pPr>
            <a:r>
              <a:rPr lang="en"/>
              <a:t>Poor generalization if the underlying data distribution changes.</a:t>
            </a:r>
            <a:endParaRPr/>
          </a:p>
          <a:p>
            <a:pPr indent="-342900" lvl="0" marL="457200" rtl="0" algn="l">
              <a:spcBef>
                <a:spcPts val="0"/>
              </a:spcBef>
              <a:spcAft>
                <a:spcPts val="0"/>
              </a:spcAft>
              <a:buSzPts val="1800"/>
              <a:buChar char="●"/>
            </a:pPr>
            <a:r>
              <a:rPr b="1" lang="en"/>
              <a:t>The class_weight=’balanced’ Solution</a:t>
            </a:r>
            <a:r>
              <a:rPr b="1" lang="en"/>
              <a:t>:</a:t>
            </a:r>
            <a:endParaRPr b="1"/>
          </a:p>
          <a:p>
            <a:pPr indent="-317500" lvl="1" marL="914400" rtl="0" algn="l">
              <a:spcBef>
                <a:spcPts val="0"/>
              </a:spcBef>
              <a:spcAft>
                <a:spcPts val="0"/>
              </a:spcAft>
              <a:buSzPts val="1400"/>
              <a:buChar char="○"/>
            </a:pPr>
            <a:r>
              <a:rPr lang="en"/>
              <a:t>Weights are inversely proportional to the class frequencies in the input data.</a:t>
            </a:r>
            <a:endParaRPr/>
          </a:p>
          <a:p>
            <a:pPr indent="-317500" lvl="2" marL="1371600" rtl="0" algn="l">
              <a:spcBef>
                <a:spcPts val="0"/>
              </a:spcBef>
              <a:spcAft>
                <a:spcPts val="0"/>
              </a:spcAft>
              <a:buSzPts val="1400"/>
              <a:buChar char="■"/>
            </a:pPr>
            <a:r>
              <a:rPr lang="en"/>
              <a:t>Increases penalty for misclassifying a minority class instance.</a:t>
            </a:r>
            <a:endParaRPr/>
          </a:p>
          <a:p>
            <a:pPr indent="-317500" lvl="2" marL="1371600" rtl="0" algn="l">
              <a:spcBef>
                <a:spcPts val="0"/>
              </a:spcBef>
              <a:spcAft>
                <a:spcPts val="0"/>
              </a:spcAft>
              <a:buSzPts val="1400"/>
              <a:buChar char="■"/>
            </a:pPr>
            <a:r>
              <a:rPr lang="en"/>
              <a:t>Decreases penalty for misclassifying a majority class </a:t>
            </a:r>
            <a:r>
              <a:rPr lang="en"/>
              <a:t>instance.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#1: </a:t>
            </a:r>
            <a:endParaRPr b="1"/>
          </a:p>
        </p:txBody>
      </p:sp>
      <p:sp>
        <p:nvSpPr>
          <p:cNvPr id="129" name="Google Shape;129;p25"/>
          <p:cNvSpPr txBox="1"/>
          <p:nvPr>
            <p:ph idx="1" type="body"/>
          </p:nvPr>
        </p:nvSpPr>
        <p:spPr>
          <a:xfrm>
            <a:off x="311700" y="1152475"/>
            <a:ext cx="8520600" cy="3744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b="1" lang="en"/>
              <a:t>Model:</a:t>
            </a:r>
            <a:endParaRPr b="1"/>
          </a:p>
          <a:p>
            <a:pPr indent="-317500" lvl="1" marL="914400" rtl="0" algn="l">
              <a:spcBef>
                <a:spcPts val="0"/>
              </a:spcBef>
              <a:spcAft>
                <a:spcPts val="0"/>
              </a:spcAft>
              <a:buSzPts val="1400"/>
              <a:buChar char="○"/>
            </a:pPr>
            <a:r>
              <a:rPr lang="en"/>
              <a:t>Basic multi-class logistic regression model on non-lemmatized TF-IDF features.</a:t>
            </a:r>
            <a:endParaRPr/>
          </a:p>
          <a:p>
            <a:pPr indent="-342900" lvl="0" marL="457200" rtl="0" algn="l">
              <a:spcBef>
                <a:spcPts val="0"/>
              </a:spcBef>
              <a:spcAft>
                <a:spcPts val="0"/>
              </a:spcAft>
              <a:buSzPts val="1800"/>
              <a:buChar char="●"/>
            </a:pPr>
            <a:r>
              <a:rPr b="1" lang="en"/>
              <a:t>Performance:</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Char char="●"/>
            </a:pPr>
            <a:r>
              <a:rPr b="1" lang="en"/>
              <a:t>Insight: </a:t>
            </a:r>
            <a:endParaRPr b="1"/>
          </a:p>
          <a:p>
            <a:pPr indent="-317500" lvl="1" marL="914400" rtl="0" algn="l">
              <a:spcBef>
                <a:spcPts val="0"/>
              </a:spcBef>
              <a:spcAft>
                <a:spcPts val="0"/>
              </a:spcAft>
              <a:buSzPts val="1400"/>
              <a:buChar char="○"/>
            </a:pPr>
            <a:r>
              <a:rPr lang="en"/>
              <a:t>The model appears to be overfit, as illustrated by the marked decrease in all metrics </a:t>
            </a:r>
            <a:r>
              <a:rPr lang="en"/>
              <a:t>between the training and testing set. </a:t>
            </a:r>
            <a:endParaRPr/>
          </a:p>
          <a:p>
            <a:pPr indent="-317500" lvl="1" marL="914400" rtl="0" algn="l">
              <a:spcBef>
                <a:spcPts val="0"/>
              </a:spcBef>
              <a:spcAft>
                <a:spcPts val="0"/>
              </a:spcAft>
              <a:buSzPts val="1400"/>
              <a:buChar char="○"/>
            </a:pPr>
            <a:r>
              <a:rPr lang="en"/>
              <a:t>It is also possible the training set and testing set have time series drift or some other mechanism at play, but we assumed overfitting for improvement. </a:t>
            </a:r>
            <a:endParaRPr/>
          </a:p>
        </p:txBody>
      </p:sp>
      <p:graphicFrame>
        <p:nvGraphicFramePr>
          <p:cNvPr id="130" name="Google Shape;130;p25"/>
          <p:cNvGraphicFramePr/>
          <p:nvPr/>
        </p:nvGraphicFramePr>
        <p:xfrm>
          <a:off x="2262188" y="2174875"/>
          <a:ext cx="3000000" cy="3000000"/>
        </p:xfrm>
        <a:graphic>
          <a:graphicData uri="http://schemas.openxmlformats.org/drawingml/2006/table">
            <a:tbl>
              <a:tblPr>
                <a:noFill/>
                <a:tableStyleId>{9598941D-8F32-4270-B873-EF2828425004}</a:tableStyleId>
              </a:tblPr>
              <a:tblGrid>
                <a:gridCol w="1628775"/>
                <a:gridCol w="1495425"/>
                <a:gridCol w="1495425"/>
              </a:tblGrid>
              <a:tr h="342900">
                <a:tc>
                  <a:txBody>
                    <a:bodyPr/>
                    <a:lstStyle/>
                    <a:p>
                      <a:pPr indent="0" lvl="0" marL="0" rtl="0" algn="l">
                        <a:lnSpc>
                          <a:spcPct val="115000"/>
                        </a:lnSpc>
                        <a:spcBef>
                          <a:spcPts val="0"/>
                        </a:spcBef>
                        <a:spcAft>
                          <a:spcPts val="0"/>
                        </a:spcAft>
                        <a:buNone/>
                      </a:pPr>
                      <a:r>
                        <a:rPr b="1" lang="en"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F1-Weighted Score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86.5%</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15.9%</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F1-Macro Score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56.3%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9.1%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Accuracy</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88.5%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15.0%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#1: Training</a:t>
            </a:r>
            <a:endParaRPr b="1"/>
          </a:p>
        </p:txBody>
      </p:sp>
      <p:pic>
        <p:nvPicPr>
          <p:cNvPr id="136" name="Google Shape;136;p26" title="Screenshot 2025-12-03 at 2.23.48 PM.png"/>
          <p:cNvPicPr preferRelativeResize="0"/>
          <p:nvPr/>
        </p:nvPicPr>
        <p:blipFill>
          <a:blip r:embed="rId3">
            <a:alphaModFix/>
          </a:blip>
          <a:stretch>
            <a:fillRect/>
          </a:stretch>
        </p:blipFill>
        <p:spPr>
          <a:xfrm>
            <a:off x="152400" y="1367600"/>
            <a:ext cx="8839201" cy="291505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#1: Testing</a:t>
            </a:r>
            <a:endParaRPr b="1"/>
          </a:p>
        </p:txBody>
      </p:sp>
      <p:pic>
        <p:nvPicPr>
          <p:cNvPr id="142" name="Google Shape;142;p27" title="Screenshot 2025-12-03 at 2.22.32 PM.png"/>
          <p:cNvPicPr preferRelativeResize="0"/>
          <p:nvPr/>
        </p:nvPicPr>
        <p:blipFill>
          <a:blip r:embed="rId3">
            <a:alphaModFix/>
          </a:blip>
          <a:stretch>
            <a:fillRect/>
          </a:stretch>
        </p:blipFill>
        <p:spPr>
          <a:xfrm>
            <a:off x="152400" y="1490375"/>
            <a:ext cx="8839201" cy="291505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Improvement Strategy #2: Lemmatization</a:t>
            </a:r>
            <a:endParaRPr b="1"/>
          </a:p>
        </p:txBody>
      </p:sp>
      <p:sp>
        <p:nvSpPr>
          <p:cNvPr id="148" name="Google Shape;14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Problem:</a:t>
            </a:r>
            <a:endParaRPr b="1"/>
          </a:p>
          <a:p>
            <a:pPr indent="-317500" lvl="1" marL="914400" rtl="0" algn="l">
              <a:spcBef>
                <a:spcPts val="0"/>
              </a:spcBef>
              <a:spcAft>
                <a:spcPts val="0"/>
              </a:spcAft>
              <a:buSzPts val="1400"/>
              <a:buChar char="○"/>
            </a:pPr>
            <a:r>
              <a:rPr lang="en"/>
              <a:t>In text data, the same core word can appear in many different forms (running, ran, runs). </a:t>
            </a:r>
            <a:endParaRPr/>
          </a:p>
          <a:p>
            <a:pPr indent="-317500" lvl="1" marL="914400" rtl="0" algn="l">
              <a:spcBef>
                <a:spcPts val="0"/>
              </a:spcBef>
              <a:spcAft>
                <a:spcPts val="0"/>
              </a:spcAft>
              <a:buSzPts val="1400"/>
              <a:buChar char="○"/>
            </a:pPr>
            <a:r>
              <a:rPr lang="en"/>
              <a:t>Treated as a separate, distinct feature in TF-IDF.</a:t>
            </a:r>
            <a:endParaRPr/>
          </a:p>
          <a:p>
            <a:pPr indent="-342900" lvl="0" marL="457200" rtl="0" algn="l">
              <a:spcBef>
                <a:spcPts val="0"/>
              </a:spcBef>
              <a:spcAft>
                <a:spcPts val="0"/>
              </a:spcAft>
              <a:buSzPts val="1800"/>
              <a:buChar char="●"/>
            </a:pPr>
            <a:r>
              <a:rPr b="1" lang="en"/>
              <a:t>Effect:</a:t>
            </a:r>
            <a:endParaRPr b="1"/>
          </a:p>
          <a:p>
            <a:pPr indent="-317500" lvl="1" marL="914400" rtl="0" algn="l">
              <a:spcBef>
                <a:spcPts val="0"/>
              </a:spcBef>
              <a:spcAft>
                <a:spcPts val="0"/>
              </a:spcAft>
              <a:buSzPts val="1400"/>
              <a:buChar char="○"/>
            </a:pPr>
            <a:r>
              <a:rPr lang="en"/>
              <a:t>Inflates the </a:t>
            </a:r>
            <a:r>
              <a:rPr lang="en"/>
              <a:t>overall</a:t>
            </a:r>
            <a:r>
              <a:rPr lang="en"/>
              <a:t> vocabulary size. </a:t>
            </a:r>
            <a:endParaRPr/>
          </a:p>
          <a:p>
            <a:pPr indent="-317500" lvl="1" marL="914400" rtl="0" algn="l">
              <a:spcBef>
                <a:spcPts val="0"/>
              </a:spcBef>
              <a:spcAft>
                <a:spcPts val="0"/>
              </a:spcAft>
              <a:buSzPts val="1400"/>
              <a:buChar char="○"/>
            </a:pPr>
            <a:r>
              <a:rPr lang="en"/>
              <a:t>Increased model complexity. </a:t>
            </a:r>
            <a:endParaRPr/>
          </a:p>
          <a:p>
            <a:pPr indent="-317500" lvl="1" marL="914400" rtl="0" algn="l">
              <a:spcBef>
                <a:spcPts val="0"/>
              </a:spcBef>
              <a:spcAft>
                <a:spcPts val="0"/>
              </a:spcAft>
              <a:buSzPts val="1400"/>
              <a:buChar char="○"/>
            </a:pPr>
            <a:r>
              <a:rPr lang="en"/>
              <a:t>Prone to overfitting.</a:t>
            </a:r>
            <a:endParaRPr/>
          </a:p>
          <a:p>
            <a:pPr indent="-342900" lvl="0" marL="457200" rtl="0" algn="l">
              <a:spcBef>
                <a:spcPts val="0"/>
              </a:spcBef>
              <a:spcAft>
                <a:spcPts val="0"/>
              </a:spcAft>
              <a:buSzPts val="1800"/>
              <a:buChar char="●"/>
            </a:pPr>
            <a:r>
              <a:rPr b="1" lang="en"/>
              <a:t>Lemmatization Solution:</a:t>
            </a:r>
            <a:endParaRPr b="1"/>
          </a:p>
          <a:p>
            <a:pPr indent="-317500" lvl="1" marL="914400" rtl="0" algn="l">
              <a:spcBef>
                <a:spcPts val="0"/>
              </a:spcBef>
              <a:spcAft>
                <a:spcPts val="0"/>
              </a:spcAft>
              <a:buSzPts val="1400"/>
              <a:buChar char="○"/>
            </a:pPr>
            <a:r>
              <a:rPr lang="en"/>
              <a:t>Lemmatization reduces a word to its base form (running, ran, runs → run). </a:t>
            </a:r>
            <a:endParaRPr/>
          </a:p>
          <a:p>
            <a:pPr indent="-317500" lvl="1" marL="914400" rtl="0" algn="l">
              <a:spcBef>
                <a:spcPts val="0"/>
              </a:spcBef>
              <a:spcAft>
                <a:spcPts val="0"/>
              </a:spcAft>
              <a:buSzPts val="1400"/>
              <a:buChar char="○"/>
            </a:pPr>
            <a:r>
              <a:rPr lang="en"/>
              <a:t>Reduces feature dimensionality</a:t>
            </a:r>
            <a:endParaRPr/>
          </a:p>
          <a:p>
            <a:pPr indent="-317500" lvl="1" marL="914400" rtl="0" algn="l">
              <a:spcBef>
                <a:spcPts val="0"/>
              </a:spcBef>
              <a:spcAft>
                <a:spcPts val="0"/>
              </a:spcAft>
              <a:buSzPts val="1400"/>
              <a:buChar char="○"/>
            </a:pPr>
            <a:r>
              <a:rPr lang="en"/>
              <a:t>Increases feature density, making the feature more representative.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Improvement Strategy #3: Regularization</a:t>
            </a:r>
            <a:endParaRPr b="1"/>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Problem:</a:t>
            </a:r>
            <a:endParaRPr b="1"/>
          </a:p>
          <a:p>
            <a:pPr indent="-317500" lvl="1" marL="914400" rtl="0" algn="l">
              <a:spcBef>
                <a:spcPts val="0"/>
              </a:spcBef>
              <a:spcAft>
                <a:spcPts val="0"/>
              </a:spcAft>
              <a:buSzPts val="1400"/>
              <a:buChar char="○"/>
            </a:pPr>
            <a:r>
              <a:rPr lang="en"/>
              <a:t>TF-IDF vectorization resulted in a high-dimensional feature space (15,000 features) with 157 observations.</a:t>
            </a:r>
            <a:endParaRPr/>
          </a:p>
          <a:p>
            <a:pPr indent="-317500" lvl="1" marL="914400" rtl="0" algn="l">
              <a:spcBef>
                <a:spcPts val="0"/>
              </a:spcBef>
              <a:spcAft>
                <a:spcPts val="0"/>
              </a:spcAft>
              <a:buSzPts val="1400"/>
              <a:buChar char="○"/>
            </a:pPr>
            <a:r>
              <a:rPr lang="en"/>
              <a:t>Potential for the model to assign extremely large weights to specific, non-generalizable </a:t>
            </a:r>
            <a:r>
              <a:rPr lang="en"/>
              <a:t>keywords</a:t>
            </a:r>
            <a:r>
              <a:rPr lang="en"/>
              <a:t>.</a:t>
            </a:r>
            <a:endParaRPr/>
          </a:p>
          <a:p>
            <a:pPr indent="-342900" lvl="0" marL="457200" rtl="0" algn="l">
              <a:spcBef>
                <a:spcPts val="0"/>
              </a:spcBef>
              <a:spcAft>
                <a:spcPts val="0"/>
              </a:spcAft>
              <a:buSzPts val="1800"/>
              <a:buChar char="●"/>
            </a:pPr>
            <a:r>
              <a:rPr b="1" lang="en"/>
              <a:t>Effect:</a:t>
            </a:r>
            <a:endParaRPr b="1"/>
          </a:p>
          <a:p>
            <a:pPr indent="-317500" lvl="1" marL="914400" rtl="0" algn="l">
              <a:spcBef>
                <a:spcPts val="0"/>
              </a:spcBef>
              <a:spcAft>
                <a:spcPts val="0"/>
              </a:spcAft>
              <a:buSzPts val="1400"/>
              <a:buChar char="○"/>
            </a:pPr>
            <a:r>
              <a:rPr lang="en"/>
              <a:t>Model can perfectly fit the noise, leading to overfitting and poor testing performance.</a:t>
            </a:r>
            <a:endParaRPr/>
          </a:p>
          <a:p>
            <a:pPr indent="-342900" lvl="0" marL="457200" rtl="0" algn="l">
              <a:spcBef>
                <a:spcPts val="0"/>
              </a:spcBef>
              <a:spcAft>
                <a:spcPts val="0"/>
              </a:spcAft>
              <a:buSzPts val="1800"/>
              <a:buChar char="●"/>
            </a:pPr>
            <a:r>
              <a:rPr b="1" lang="en"/>
              <a:t>Tuned Regularization</a:t>
            </a:r>
            <a:r>
              <a:rPr b="1" lang="en"/>
              <a:t> Solution:</a:t>
            </a:r>
            <a:endParaRPr b="1"/>
          </a:p>
          <a:p>
            <a:pPr indent="-317500" lvl="1" marL="914400" rtl="0" algn="l">
              <a:spcBef>
                <a:spcPts val="0"/>
              </a:spcBef>
              <a:spcAft>
                <a:spcPts val="0"/>
              </a:spcAft>
              <a:buSzPts val="1400"/>
              <a:buChar char="○"/>
            </a:pPr>
            <a:r>
              <a:rPr lang="en"/>
              <a:t>Tune the ‘C’ parameter with a GridSearchCV with TimeSeriesSplit.</a:t>
            </a:r>
            <a:endParaRPr/>
          </a:p>
          <a:p>
            <a:pPr indent="-317500" lvl="2" marL="1371600" rtl="0" algn="l">
              <a:spcBef>
                <a:spcPts val="0"/>
              </a:spcBef>
              <a:spcAft>
                <a:spcPts val="0"/>
              </a:spcAft>
              <a:buSzPts val="1400"/>
              <a:buChar char="■"/>
            </a:pPr>
            <a:r>
              <a:rPr lang="en"/>
              <a:t>Large C: Less penalty, higher risk of overfitting.</a:t>
            </a:r>
            <a:endParaRPr/>
          </a:p>
          <a:p>
            <a:pPr indent="-317500" lvl="2" marL="1371600" rtl="0" algn="l">
              <a:spcBef>
                <a:spcPts val="0"/>
              </a:spcBef>
              <a:spcAft>
                <a:spcPts val="0"/>
              </a:spcAft>
              <a:buSzPts val="1400"/>
              <a:buChar char="■"/>
            </a:pPr>
            <a:r>
              <a:rPr lang="en"/>
              <a:t>Small C: Heavy penalty, higher risk of underfitting.</a:t>
            </a:r>
            <a:endParaRPr/>
          </a:p>
          <a:p>
            <a:pPr indent="-317500" lvl="1" marL="914400" rtl="0" algn="l">
              <a:spcBef>
                <a:spcPts val="0"/>
              </a:spcBef>
              <a:spcAft>
                <a:spcPts val="0"/>
              </a:spcAft>
              <a:buSzPts val="1400"/>
              <a:buChar char="○"/>
            </a:pPr>
            <a:r>
              <a:rPr lang="en"/>
              <a:t>Optimization Goal: Achieve the best possible F1-Weighted score.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Improvement Strategy #4: Dimensionality Reduction</a:t>
            </a:r>
            <a:endParaRPr b="1"/>
          </a:p>
        </p:txBody>
      </p:sp>
      <p:sp>
        <p:nvSpPr>
          <p:cNvPr id="160" name="Google Shape;160;p30"/>
          <p:cNvSpPr txBox="1"/>
          <p:nvPr>
            <p:ph idx="1" type="body"/>
          </p:nvPr>
        </p:nvSpPr>
        <p:spPr>
          <a:xfrm>
            <a:off x="311700" y="1504500"/>
            <a:ext cx="8520600" cy="3064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Problem:</a:t>
            </a:r>
            <a:endParaRPr b="1"/>
          </a:p>
          <a:p>
            <a:pPr indent="-317500" lvl="1" marL="914400" rtl="0" algn="l">
              <a:spcBef>
                <a:spcPts val="0"/>
              </a:spcBef>
              <a:spcAft>
                <a:spcPts val="0"/>
              </a:spcAft>
              <a:buSzPts val="1400"/>
              <a:buChar char="○"/>
            </a:pPr>
            <a:r>
              <a:rPr lang="en"/>
              <a:t>15,000 features &gt;&gt; 157 training observations</a:t>
            </a:r>
            <a:endParaRPr/>
          </a:p>
          <a:p>
            <a:pPr indent="-342900" lvl="0" marL="457200" rtl="0" algn="l">
              <a:spcBef>
                <a:spcPts val="0"/>
              </a:spcBef>
              <a:spcAft>
                <a:spcPts val="0"/>
              </a:spcAft>
              <a:buSzPts val="1800"/>
              <a:buChar char="●"/>
            </a:pPr>
            <a:r>
              <a:rPr b="1" lang="en"/>
              <a:t>Effect:</a:t>
            </a:r>
            <a:endParaRPr b="1"/>
          </a:p>
          <a:p>
            <a:pPr indent="-317500" lvl="1" marL="914400" rtl="0" algn="l">
              <a:spcBef>
                <a:spcPts val="0"/>
              </a:spcBef>
              <a:spcAft>
                <a:spcPts val="0"/>
              </a:spcAft>
              <a:buSzPts val="1400"/>
              <a:buChar char="○"/>
            </a:pPr>
            <a:r>
              <a:rPr lang="en"/>
              <a:t>Extreme overfitting &amp; increased computational cost.</a:t>
            </a:r>
            <a:endParaRPr/>
          </a:p>
          <a:p>
            <a:pPr indent="-342900" lvl="0" marL="457200" rtl="0" algn="l">
              <a:spcBef>
                <a:spcPts val="0"/>
              </a:spcBef>
              <a:spcAft>
                <a:spcPts val="0"/>
              </a:spcAft>
              <a:buSzPts val="1800"/>
              <a:buChar char="●"/>
            </a:pPr>
            <a:r>
              <a:rPr b="1" lang="en"/>
              <a:t>Principal Component Analysis (PCA) Mechanism</a:t>
            </a:r>
            <a:r>
              <a:rPr b="1" lang="en"/>
              <a:t> Solution:</a:t>
            </a:r>
            <a:endParaRPr b="1"/>
          </a:p>
          <a:p>
            <a:pPr indent="-317500" lvl="1" marL="914400" rtl="0" algn="l">
              <a:spcBef>
                <a:spcPts val="0"/>
              </a:spcBef>
              <a:spcAft>
                <a:spcPts val="0"/>
              </a:spcAft>
              <a:buSzPts val="1400"/>
              <a:buChar char="○"/>
            </a:pPr>
            <a:r>
              <a:rPr lang="en"/>
              <a:t>PCA linearly transforms the features into a new set of dimensions. </a:t>
            </a:r>
            <a:endParaRPr/>
          </a:p>
          <a:p>
            <a:pPr indent="-317500" lvl="2" marL="1371600" rtl="0" algn="l">
              <a:spcBef>
                <a:spcPts val="0"/>
              </a:spcBef>
              <a:spcAft>
                <a:spcPts val="0"/>
              </a:spcAft>
              <a:buSzPts val="1400"/>
              <a:buChar char="■"/>
            </a:pPr>
            <a:r>
              <a:rPr lang="en"/>
              <a:t>Works by finding the components that capture the maximum variance in the original data. </a:t>
            </a:r>
            <a:endParaRPr/>
          </a:p>
          <a:p>
            <a:pPr indent="-317500" lvl="1" marL="914400" rtl="0" algn="l">
              <a:spcBef>
                <a:spcPts val="0"/>
              </a:spcBef>
              <a:spcAft>
                <a:spcPts val="0"/>
              </a:spcAft>
              <a:buSzPts val="1400"/>
              <a:buChar char="○"/>
            </a:pPr>
            <a:r>
              <a:rPr lang="en"/>
              <a:t>Tune the number of components using GridSearchCV, maximizing the F1-weighted score.</a:t>
            </a:r>
            <a:endParaRPr/>
          </a:p>
          <a:p>
            <a:pPr indent="-317500" lvl="2" marL="1371600" rtl="0" algn="l">
              <a:spcBef>
                <a:spcPts val="0"/>
              </a:spcBef>
              <a:spcAft>
                <a:spcPts val="0"/>
              </a:spcAft>
              <a:buSzPts val="1400"/>
              <a:buChar char="■"/>
            </a:pPr>
            <a:r>
              <a:rPr lang="en"/>
              <a:t>Removes noise</a:t>
            </a:r>
            <a:endParaRPr/>
          </a:p>
          <a:p>
            <a:pPr indent="-317500" lvl="2" marL="1371600" rtl="0" algn="l">
              <a:spcBef>
                <a:spcPts val="0"/>
              </a:spcBef>
              <a:spcAft>
                <a:spcPts val="0"/>
              </a:spcAft>
              <a:buSzPts val="1400"/>
              <a:buChar char="■"/>
            </a:pPr>
            <a:r>
              <a:rPr lang="en"/>
              <a:t>Regularizes the model</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Final Performance Evaluations</a:t>
            </a:r>
            <a:endParaRPr b="1"/>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Final Model Performance Comparison: Accuracy</a:t>
            </a:r>
            <a:endParaRPr b="1"/>
          </a:p>
        </p:txBody>
      </p:sp>
      <p:graphicFrame>
        <p:nvGraphicFramePr>
          <p:cNvPr id="171" name="Google Shape;171;p32"/>
          <p:cNvGraphicFramePr/>
          <p:nvPr/>
        </p:nvGraphicFramePr>
        <p:xfrm>
          <a:off x="2262188" y="1639175"/>
          <a:ext cx="3000000" cy="3000000"/>
        </p:xfrm>
        <a:graphic>
          <a:graphicData uri="http://schemas.openxmlformats.org/drawingml/2006/table">
            <a:tbl>
              <a:tblPr>
                <a:noFill/>
                <a:tableStyleId>{9598941D-8F32-4270-B873-EF2828425004}</a:tableStyleId>
              </a:tblPr>
              <a:tblGrid>
                <a:gridCol w="1628775"/>
                <a:gridCol w="1495425"/>
                <a:gridCol w="1495425"/>
              </a:tblGrid>
              <a:tr h="342900">
                <a:tc gridSpan="3">
                  <a:txBody>
                    <a:bodyPr/>
                    <a:lstStyle/>
                    <a:p>
                      <a:pPr indent="0" lvl="0" marL="0" rtl="0" algn="ctr">
                        <a:lnSpc>
                          <a:spcPct val="115000"/>
                        </a:lnSpc>
                        <a:spcBef>
                          <a:spcPts val="0"/>
                        </a:spcBef>
                        <a:spcAft>
                          <a:spcPts val="0"/>
                        </a:spcAft>
                        <a:buNone/>
                      </a:pPr>
                      <a:r>
                        <a:rPr b="1" lang="en" sz="1100">
                          <a:solidFill>
                            <a:srgbClr val="1F1F1F"/>
                          </a:solidFill>
                        </a:rPr>
                        <a:t>Accuracy</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ctr">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ctr">
                        <a:lnSpc>
                          <a:spcPct val="115000"/>
                        </a:lnSpc>
                        <a:spcBef>
                          <a:spcPts val="0"/>
                        </a:spcBef>
                        <a:spcAft>
                          <a:spcPts val="0"/>
                        </a:spcAft>
                        <a:buNone/>
                      </a:pPr>
                      <a:r>
                        <a:rPr b="1" lang="en" sz="1100">
                          <a:solidFill>
                            <a:srgbClr val="1F1F1F"/>
                          </a:solidFill>
                        </a:rPr>
                        <a:t>Baseline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gridSpan="2">
                  <a:txBody>
                    <a:bodyPr/>
                    <a:lstStyle/>
                    <a:p>
                      <a:pPr indent="0" lvl="0" marL="0" rtl="0" algn="ctr">
                        <a:lnSpc>
                          <a:spcPct val="115000"/>
                        </a:lnSpc>
                        <a:spcBef>
                          <a:spcPts val="0"/>
                        </a:spcBef>
                        <a:spcAft>
                          <a:spcPts val="0"/>
                        </a:spcAft>
                        <a:buNone/>
                      </a:pPr>
                      <a:r>
                        <a:rPr lang="en" sz="1100">
                          <a:solidFill>
                            <a:srgbClr val="1F1F1F"/>
                          </a:solidFill>
                        </a:rPr>
                        <a:t>60.8%</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hMerge="1"/>
              </a:tr>
              <a:tr h="342900">
                <a:tc>
                  <a:txBody>
                    <a:bodyPr/>
                    <a:lstStyle/>
                    <a:p>
                      <a:pPr indent="0" lvl="0" marL="0" rtl="0" algn="ctr">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88.5%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87.9%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22.5%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50.0%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49.7%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55.0%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Final Model Performance Comparison: F1-Weighted</a:t>
            </a:r>
            <a:endParaRPr b="1"/>
          </a:p>
        </p:txBody>
      </p:sp>
      <p:graphicFrame>
        <p:nvGraphicFramePr>
          <p:cNvPr id="177" name="Google Shape;177;p33"/>
          <p:cNvGraphicFramePr/>
          <p:nvPr/>
        </p:nvGraphicFramePr>
        <p:xfrm>
          <a:off x="2262188" y="1807525"/>
          <a:ext cx="3000000" cy="3000000"/>
        </p:xfrm>
        <a:graphic>
          <a:graphicData uri="http://schemas.openxmlformats.org/drawingml/2006/table">
            <a:tbl>
              <a:tblPr>
                <a:noFill/>
                <a:tableStyleId>{9598941D-8F32-4270-B873-EF2828425004}</a:tableStyleId>
              </a:tblPr>
              <a:tblGrid>
                <a:gridCol w="1628775"/>
                <a:gridCol w="1495425"/>
                <a:gridCol w="1495425"/>
              </a:tblGrid>
              <a:tr h="342900">
                <a:tc gridSpan="3">
                  <a:txBody>
                    <a:bodyPr/>
                    <a:lstStyle/>
                    <a:p>
                      <a:pPr indent="0" lvl="0" marL="0" rtl="0" algn="ctr">
                        <a:lnSpc>
                          <a:spcPct val="115000"/>
                        </a:lnSpc>
                        <a:spcBef>
                          <a:spcPts val="0"/>
                        </a:spcBef>
                        <a:spcAft>
                          <a:spcPts val="0"/>
                        </a:spcAft>
                        <a:buNone/>
                      </a:pPr>
                      <a:r>
                        <a:rPr b="1" lang="en" sz="1100">
                          <a:solidFill>
                            <a:srgbClr val="1F1F1F"/>
                          </a:solidFill>
                        </a:rPr>
                        <a:t>F1-Weighted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ctr">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86.5%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15.9%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85.4%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24.9%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40.7%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55.2%</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46.7%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Final Model Performance Comparison: F1-Macro</a:t>
            </a:r>
            <a:endParaRPr b="1"/>
          </a:p>
        </p:txBody>
      </p:sp>
      <p:graphicFrame>
        <p:nvGraphicFramePr>
          <p:cNvPr id="183" name="Google Shape;183;p34"/>
          <p:cNvGraphicFramePr/>
          <p:nvPr/>
        </p:nvGraphicFramePr>
        <p:xfrm>
          <a:off x="2262175" y="1799125"/>
          <a:ext cx="3000000" cy="3000000"/>
        </p:xfrm>
        <a:graphic>
          <a:graphicData uri="http://schemas.openxmlformats.org/drawingml/2006/table">
            <a:tbl>
              <a:tblPr>
                <a:noFill/>
                <a:tableStyleId>{9598941D-8F32-4270-B873-EF2828425004}</a:tableStyleId>
              </a:tblPr>
              <a:tblGrid>
                <a:gridCol w="1628775"/>
                <a:gridCol w="1495425"/>
                <a:gridCol w="1495425"/>
              </a:tblGrid>
              <a:tr h="342900">
                <a:tc gridSpan="3">
                  <a:txBody>
                    <a:bodyPr/>
                    <a:lstStyle/>
                    <a:p>
                      <a:pPr indent="0" lvl="0" marL="0" rtl="0" algn="ctr">
                        <a:lnSpc>
                          <a:spcPct val="115000"/>
                        </a:lnSpc>
                        <a:spcBef>
                          <a:spcPts val="0"/>
                        </a:spcBef>
                        <a:spcAft>
                          <a:spcPts val="0"/>
                        </a:spcAft>
                        <a:buNone/>
                      </a:pPr>
                      <a:r>
                        <a:rPr b="1" lang="en" sz="1100">
                          <a:solidFill>
                            <a:srgbClr val="1F1F1F"/>
                          </a:solidFill>
                        </a:rPr>
                        <a:t>F1-Macro</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ctr">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56.3%</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9.1%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52.9%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17%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b="1" lang="en" sz="1100">
                          <a:solidFill>
                            <a:srgbClr val="1F1F1F"/>
                          </a:solidFill>
                        </a:rPr>
                        <a:t>Log Reg Model #4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38.8%</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lnSpc>
                          <a:spcPct val="115000"/>
                        </a:lnSpc>
                        <a:spcBef>
                          <a:spcPts val="0"/>
                        </a:spcBef>
                        <a:spcAft>
                          <a:spcPts val="0"/>
                        </a:spcAft>
                        <a:buNone/>
                      </a:pPr>
                      <a:r>
                        <a:rPr lang="en" sz="1100">
                          <a:solidFill>
                            <a:srgbClr val="1F1F1F"/>
                          </a:solidFill>
                        </a:rPr>
                        <a:t>21%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Challenge</a:t>
            </a:r>
            <a:r>
              <a:rPr b="1" lang="en"/>
              <a:t>:</a:t>
            </a:r>
            <a:r>
              <a:rPr b="1" lang="en"/>
              <a:t> Data Drift</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Drift</a:t>
            </a:r>
            <a:endParaRPr b="1"/>
          </a:p>
        </p:txBody>
      </p:sp>
      <p:sp>
        <p:nvSpPr>
          <p:cNvPr id="194" name="Google Shape;194;p36"/>
          <p:cNvSpPr txBox="1"/>
          <p:nvPr/>
        </p:nvSpPr>
        <p:spPr>
          <a:xfrm>
            <a:off x="311700" y="1017725"/>
            <a:ext cx="8520600" cy="2382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Clr>
                <a:schemeClr val="dk1"/>
              </a:buClr>
              <a:buSzPts val="1400"/>
              <a:buChar char="●"/>
            </a:pPr>
            <a:r>
              <a:rPr b="1" lang="en">
                <a:solidFill>
                  <a:schemeClr val="dk1"/>
                </a:solidFill>
              </a:rPr>
              <a:t>Data Drift:</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O</a:t>
            </a:r>
            <a:r>
              <a:rPr lang="en">
                <a:solidFill>
                  <a:schemeClr val="dk1"/>
                </a:solidFill>
              </a:rPr>
              <a:t>ccurs when the statistical properties of the incoming data (i.e., the keywords and their meanings) change over time.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Potential Causes: </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K</a:t>
            </a:r>
            <a:r>
              <a:rPr lang="en">
                <a:solidFill>
                  <a:schemeClr val="dk1"/>
                </a:solidFill>
              </a:rPr>
              <a:t>eywords that were predictive in the past may lose relevance in the present</a:t>
            </a:r>
            <a:endParaRPr>
              <a:solidFill>
                <a:schemeClr val="dk1"/>
              </a:solidFill>
            </a:endParaRPr>
          </a:p>
          <a:p>
            <a:pPr indent="-317500" lvl="2" marL="1371600" rtl="0" algn="l">
              <a:lnSpc>
                <a:spcPct val="115000"/>
              </a:lnSpc>
              <a:spcBef>
                <a:spcPts val="0"/>
              </a:spcBef>
              <a:spcAft>
                <a:spcPts val="0"/>
              </a:spcAft>
              <a:buClr>
                <a:schemeClr val="dk1"/>
              </a:buClr>
              <a:buSzPts val="1400"/>
              <a:buChar char="■"/>
            </a:pPr>
            <a:r>
              <a:rPr lang="en">
                <a:solidFill>
                  <a:schemeClr val="dk1"/>
                </a:solidFill>
              </a:rPr>
              <a:t>Due to political and geopolitical changes, </a:t>
            </a:r>
            <a:endParaRPr>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The underlying distribution of the target variable can change over time.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Impact:</a:t>
            </a:r>
            <a:endParaRPr b="1">
              <a:solidFill>
                <a:schemeClr val="dk1"/>
              </a:solidFill>
            </a:endParaRPr>
          </a:p>
          <a:p>
            <a:pPr indent="-317500" lvl="1" marL="914400" rtl="0" algn="l">
              <a:lnSpc>
                <a:spcPct val="115000"/>
              </a:lnSpc>
              <a:spcBef>
                <a:spcPts val="0"/>
              </a:spcBef>
              <a:spcAft>
                <a:spcPts val="0"/>
              </a:spcAft>
              <a:buClr>
                <a:schemeClr val="dk1"/>
              </a:buClr>
              <a:buSzPts val="1400"/>
              <a:buChar char="○"/>
            </a:pPr>
            <a:r>
              <a:rPr lang="en">
                <a:solidFill>
                  <a:schemeClr val="dk1"/>
                </a:solidFill>
              </a:rPr>
              <a:t>Degrading performance on testing data over time.</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Drift Visualization</a:t>
            </a:r>
            <a:endParaRPr b="1"/>
          </a:p>
        </p:txBody>
      </p:sp>
      <p:pic>
        <p:nvPicPr>
          <p:cNvPr id="200" name="Google Shape;200;p37" title="Screenshot 2025-12-03 at 4.15.12 PM.png"/>
          <p:cNvPicPr preferRelativeResize="0"/>
          <p:nvPr/>
        </p:nvPicPr>
        <p:blipFill>
          <a:blip r:embed="rId3">
            <a:alphaModFix/>
          </a:blip>
          <a:stretch>
            <a:fillRect/>
          </a:stretch>
        </p:blipFill>
        <p:spPr>
          <a:xfrm>
            <a:off x="790813" y="1017725"/>
            <a:ext cx="7265884" cy="382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Data Drift Visualization</a:t>
            </a:r>
            <a:endParaRPr b="1"/>
          </a:p>
        </p:txBody>
      </p:sp>
      <p:pic>
        <p:nvPicPr>
          <p:cNvPr id="206" name="Google Shape;206;p38" title="Screenshot 2025-12-03 at 4.23.07 PM.png"/>
          <p:cNvPicPr preferRelativeResize="0"/>
          <p:nvPr/>
        </p:nvPicPr>
        <p:blipFill>
          <a:blip r:embed="rId3">
            <a:alphaModFix/>
          </a:blip>
          <a:stretch>
            <a:fillRect/>
          </a:stretch>
        </p:blipFill>
        <p:spPr>
          <a:xfrm>
            <a:off x="1602688" y="1017725"/>
            <a:ext cx="5938623" cy="38209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Conclusion &amp; Next Steps</a:t>
            </a:r>
            <a:endParaRPr b="1"/>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Project Summary</a:t>
            </a:r>
            <a:endParaRPr b="1"/>
          </a:p>
        </p:txBody>
      </p:sp>
      <p:sp>
        <p:nvSpPr>
          <p:cNvPr id="217" name="Google Shape;217;p40"/>
          <p:cNvSpPr txBox="1"/>
          <p:nvPr>
            <p:ph idx="1" type="body"/>
          </p:nvPr>
        </p:nvSpPr>
        <p:spPr>
          <a:xfrm>
            <a:off x="311700" y="1277875"/>
            <a:ext cx="8773200" cy="3284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1500">
                <a:solidFill>
                  <a:schemeClr val="dk1"/>
                </a:solidFill>
              </a:rPr>
              <a:t>The project successfully developed a time-series classification framework using lagged TF-IDF features from article keywords to forecast weekly alert buckets.</a:t>
            </a:r>
            <a:endParaRPr sz="1500">
              <a:solidFill>
                <a:schemeClr val="dk1"/>
              </a:solidFill>
            </a:endParaRPr>
          </a:p>
          <a:p>
            <a:pPr indent="-368300" lvl="0" marL="457200" rtl="0" algn="l">
              <a:spcBef>
                <a:spcPts val="0"/>
              </a:spcBef>
              <a:spcAft>
                <a:spcPts val="0"/>
              </a:spcAft>
              <a:buSzPts val="2200"/>
              <a:buChar char="●"/>
            </a:pPr>
            <a:r>
              <a:rPr lang="en" sz="1500">
                <a:solidFill>
                  <a:schemeClr val="dk1"/>
                </a:solidFill>
              </a:rPr>
              <a:t>Initial models suffered from apparent overfitting, demonstrating the need for robust tuning.</a:t>
            </a:r>
            <a:endParaRPr sz="1500">
              <a:solidFill>
                <a:schemeClr val="dk1"/>
              </a:solidFill>
            </a:endParaRPr>
          </a:p>
          <a:p>
            <a:pPr indent="-368300" lvl="0" marL="457200" rtl="0" algn="l">
              <a:spcBef>
                <a:spcPts val="0"/>
              </a:spcBef>
              <a:spcAft>
                <a:spcPts val="0"/>
              </a:spcAft>
              <a:buSzPts val="2200"/>
              <a:buChar char="●"/>
            </a:pPr>
            <a:r>
              <a:rPr lang="en" sz="1500">
                <a:solidFill>
                  <a:schemeClr val="dk1"/>
                </a:solidFill>
              </a:rPr>
              <a:t>The integrated strategy of regularization (L2), class balancing, and dimensionality reduction (PCA), combined with the time-series-aware </a:t>
            </a:r>
            <a:r>
              <a:rPr lang="en" sz="1500">
                <a:solidFill>
                  <a:schemeClr val="dk1"/>
                </a:solidFill>
              </a:rPr>
              <a:t>TimeSeries Split</a:t>
            </a:r>
            <a:r>
              <a:rPr lang="en" sz="1500">
                <a:solidFill>
                  <a:schemeClr val="dk1"/>
                </a:solidFill>
              </a:rPr>
              <a:t>, was critical for building a generalizable model.</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Further experimentation is necessary to </a:t>
            </a:r>
            <a:r>
              <a:rPr lang="en" sz="1500">
                <a:solidFill>
                  <a:schemeClr val="dk1"/>
                </a:solidFill>
              </a:rPr>
              <a:t>determine</a:t>
            </a:r>
            <a:r>
              <a:rPr lang="en" sz="1500">
                <a:solidFill>
                  <a:schemeClr val="dk1"/>
                </a:solidFill>
              </a:rPr>
              <a:t> the viability of this model for deployment. Currently, the model does not outperform the baseline model.</a:t>
            </a:r>
            <a:endParaRPr sz="1500">
              <a:solidFill>
                <a:schemeClr val="dk1"/>
              </a:solidFill>
            </a:endParaRPr>
          </a:p>
          <a:p>
            <a:pPr indent="-323850" lvl="0" marL="457200" rtl="0" algn="l">
              <a:spcBef>
                <a:spcPts val="0"/>
              </a:spcBef>
              <a:spcAft>
                <a:spcPts val="0"/>
              </a:spcAft>
              <a:buClr>
                <a:schemeClr val="dk1"/>
              </a:buClr>
              <a:buSzPts val="1500"/>
              <a:buChar char="●"/>
            </a:pPr>
            <a:r>
              <a:rPr lang="en" sz="1500">
                <a:solidFill>
                  <a:schemeClr val="dk1"/>
                </a:solidFill>
              </a:rPr>
              <a:t>With the integration of more robust time series handling and other tools for generalization, it is possible the model can be improved as it has been improved considerably with modest adjustments already. </a:t>
            </a:r>
            <a:endParaRPr sz="15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Primary Challenges</a:t>
            </a:r>
            <a:endParaRPr b="1"/>
          </a:p>
        </p:txBody>
      </p:sp>
      <p:sp>
        <p:nvSpPr>
          <p:cNvPr id="223" name="Google Shape;223;p41"/>
          <p:cNvSpPr txBox="1"/>
          <p:nvPr>
            <p:ph idx="1" type="body"/>
          </p:nvPr>
        </p:nvSpPr>
        <p:spPr>
          <a:xfrm>
            <a:off x="311700" y="1156175"/>
            <a:ext cx="8520600" cy="3412800"/>
          </a:xfrm>
          <a:prstGeom prst="rect">
            <a:avLst/>
          </a:prstGeom>
          <a:ln>
            <a:noFill/>
          </a:ln>
        </p:spPr>
        <p:txBody>
          <a:bodyPr anchorCtr="0" anchor="t" bIns="91425" lIns="91425" spcFirstLastPara="1" rIns="91425" wrap="square" tIns="91425">
            <a:normAutofit/>
          </a:bodyPr>
          <a:lstStyle/>
          <a:p>
            <a:pPr indent="-317500" lvl="0" marL="457200" rtl="0" algn="l">
              <a:spcBef>
                <a:spcPts val="0"/>
              </a:spcBef>
              <a:spcAft>
                <a:spcPts val="0"/>
              </a:spcAft>
              <a:buClr>
                <a:schemeClr val="dk1"/>
              </a:buClr>
              <a:buSzPts val="1400"/>
              <a:buChar char="●"/>
            </a:pPr>
            <a:r>
              <a:rPr b="1" lang="en" sz="1400">
                <a:solidFill>
                  <a:schemeClr val="dk1"/>
                </a:solidFill>
              </a:rPr>
              <a:t>Extreme Overfitting:</a:t>
            </a:r>
            <a:r>
              <a:rPr lang="en" sz="1400">
                <a:solidFill>
                  <a:schemeClr val="dk1"/>
                </a:solidFill>
              </a:rPr>
              <a:t> </a:t>
            </a:r>
            <a:endParaRPr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The high dimensionality</a:t>
            </a:r>
            <a:r>
              <a:rPr lang="en">
                <a:solidFill>
                  <a:schemeClr val="dk1"/>
                </a:solidFill>
              </a:rPr>
              <a:t> </a:t>
            </a:r>
            <a:r>
              <a:rPr lang="en" sz="1400">
                <a:solidFill>
                  <a:schemeClr val="dk1"/>
                </a:solidFill>
              </a:rPr>
              <a:t>caused initial models to memorize the training data</a:t>
            </a:r>
            <a:r>
              <a:rPr lang="en">
                <a:solidFill>
                  <a:schemeClr val="dk1"/>
                </a:solidFill>
              </a:rPr>
              <a: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Consequence: Massive</a:t>
            </a:r>
            <a:r>
              <a:rPr lang="en" sz="1400">
                <a:solidFill>
                  <a:schemeClr val="dk1"/>
                </a:solidFill>
              </a:rPr>
              <a:t> drop in performance on the test set.</a:t>
            </a:r>
            <a:endParaRPr>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Class Imbalance:</a:t>
            </a:r>
            <a:r>
              <a:rPr lang="en" sz="1400">
                <a:solidFill>
                  <a:schemeClr val="dk1"/>
                </a:solidFill>
              </a:rPr>
              <a:t> </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Skewed target variable (‘bucket’)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Mitigation required</a:t>
            </a:r>
            <a:r>
              <a:rPr lang="en" sz="1400">
                <a:solidFill>
                  <a:schemeClr val="dk1"/>
                </a:solidFill>
              </a:rPr>
              <a:t> the use of</a:t>
            </a:r>
            <a:r>
              <a:rPr lang="en">
                <a:solidFill>
                  <a:schemeClr val="dk1"/>
                </a:solidFill>
              </a:rPr>
              <a:t> class_weight = ‘balanced’ </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Primary optimization metric: </a:t>
            </a:r>
            <a:r>
              <a:rPr lang="en" sz="1400">
                <a:solidFill>
                  <a:schemeClr val="dk1"/>
                </a:solidFill>
              </a:rPr>
              <a:t>F1-Weighted Score</a:t>
            </a:r>
            <a:endParaRPr>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Data Drift:</a:t>
            </a:r>
            <a:r>
              <a:rPr lang="en" sz="1400">
                <a:solidFill>
                  <a:schemeClr val="dk1"/>
                </a:solidFill>
              </a:rPr>
              <a:t> </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Underlying distribution of the target variable changed between the testing and training sets, causing the model’s performance to suffer.</a:t>
            </a:r>
            <a:endParaRPr sz="14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Lessons Learned</a:t>
            </a:r>
            <a:endParaRPr b="1"/>
          </a:p>
        </p:txBody>
      </p:sp>
      <p:sp>
        <p:nvSpPr>
          <p:cNvPr id="229" name="Google Shape;229;p42"/>
          <p:cNvSpPr txBox="1"/>
          <p:nvPr>
            <p:ph idx="1" type="body"/>
          </p:nvPr>
        </p:nvSpPr>
        <p:spPr>
          <a:xfrm>
            <a:off x="311700" y="1504500"/>
            <a:ext cx="8520600" cy="30645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lang="en" sz="1300">
                <a:solidFill>
                  <a:schemeClr val="dk1"/>
                </a:solidFill>
                <a:highlight>
                  <a:srgbClr val="FFFFFF"/>
                </a:highlight>
              </a:rPr>
              <a:t>"</a:t>
            </a:r>
            <a:r>
              <a:rPr i="1" lang="en" sz="1300">
                <a:solidFill>
                  <a:schemeClr val="dk1"/>
                </a:solidFill>
                <a:highlight>
                  <a:srgbClr val="FFFFFF"/>
                </a:highlight>
              </a:rPr>
              <a:t>I have not failed. I've just found 10,000 ways that won't work.</a:t>
            </a:r>
            <a:r>
              <a:rPr lang="en" sz="1300">
                <a:solidFill>
                  <a:schemeClr val="dk1"/>
                </a:solidFill>
                <a:highlight>
                  <a:srgbClr val="FFFFFF"/>
                </a:highlight>
              </a:rPr>
              <a:t>"  -Thomas Edison</a:t>
            </a:r>
            <a:endParaRPr sz="1400">
              <a:solidFill>
                <a:schemeClr val="dk1"/>
              </a:solidFill>
            </a:endParaRPr>
          </a:p>
          <a:p>
            <a:pPr indent="-361950" lvl="0" marL="457200" rtl="0" algn="l">
              <a:spcBef>
                <a:spcPts val="1200"/>
              </a:spcBef>
              <a:spcAft>
                <a:spcPts val="0"/>
              </a:spcAft>
              <a:buSzPts val="2100"/>
              <a:buChar char="●"/>
            </a:pPr>
            <a:r>
              <a:rPr lang="en" sz="1400">
                <a:solidFill>
                  <a:schemeClr val="dk1"/>
                </a:solidFill>
              </a:rPr>
              <a:t>The project stemmed from a small initial pet-project attempt using ARIMAX in R.</a:t>
            </a:r>
            <a:endParaRPr sz="1400">
              <a:solidFill>
                <a:schemeClr val="dk1"/>
              </a:solidFill>
            </a:endParaRPr>
          </a:p>
          <a:p>
            <a:pPr indent="-361950" lvl="0" marL="457200" rtl="0" algn="l">
              <a:spcBef>
                <a:spcPts val="0"/>
              </a:spcBef>
              <a:spcAft>
                <a:spcPts val="0"/>
              </a:spcAft>
              <a:buSzPts val="2100"/>
              <a:buChar char="●"/>
            </a:pPr>
            <a:r>
              <a:rPr lang="en" sz="1400">
                <a:solidFill>
                  <a:schemeClr val="dk1"/>
                </a:solidFill>
              </a:rPr>
              <a:t>Some initial coding toward a linear solution with regularization scheme comparison was done (see: </a:t>
            </a:r>
            <a:r>
              <a:rPr lang="en" sz="1400" u="sng">
                <a:solidFill>
                  <a:schemeClr val="hlink"/>
                </a:solidFill>
                <a:hlinkClick r:id="rId3"/>
              </a:rPr>
              <a:t>https://colab.research.google.com/drive/11P0VQtthbUbj81D4VDDso9STlIsk8lN0?usp=sharing</a:t>
            </a:r>
            <a:r>
              <a:rPr lang="en" sz="1400">
                <a:solidFill>
                  <a:schemeClr val="dk1"/>
                </a:solidFill>
              </a:rPr>
              <a:t>)</a:t>
            </a:r>
            <a:endParaRPr sz="1400">
              <a:solidFill>
                <a:schemeClr val="dk1"/>
              </a:solidFill>
            </a:endParaRPr>
          </a:p>
          <a:p>
            <a:pPr indent="-361950" lvl="0" marL="457200" rtl="0" algn="l">
              <a:spcBef>
                <a:spcPts val="0"/>
              </a:spcBef>
              <a:spcAft>
                <a:spcPts val="0"/>
              </a:spcAft>
              <a:buSzPts val="2100"/>
              <a:buChar char="●"/>
            </a:pPr>
            <a:r>
              <a:rPr lang="en" sz="1400">
                <a:solidFill>
                  <a:schemeClr val="dk1"/>
                </a:solidFill>
              </a:rPr>
              <a:t>The team then shifted </a:t>
            </a:r>
            <a:r>
              <a:rPr lang="en" sz="1400">
                <a:solidFill>
                  <a:schemeClr val="dk1"/>
                </a:solidFill>
              </a:rPr>
              <a:t>toward a more purely count prediction-driven model.  Poisson was discarded and negative binomial was chosen instead as the data is grossly overdispersed.</a:t>
            </a:r>
            <a:endParaRPr sz="1400">
              <a:solidFill>
                <a:schemeClr val="dk1"/>
              </a:solidFill>
            </a:endParaRPr>
          </a:p>
          <a:p>
            <a:pPr indent="-361950" lvl="0" marL="457200" rtl="0" algn="l">
              <a:spcBef>
                <a:spcPts val="0"/>
              </a:spcBef>
              <a:spcAft>
                <a:spcPts val="0"/>
              </a:spcAft>
              <a:buSzPts val="2100"/>
              <a:buChar char="●"/>
            </a:pPr>
            <a:r>
              <a:rPr lang="en" sz="1400">
                <a:solidFill>
                  <a:schemeClr val="dk1"/>
                </a:solidFill>
              </a:rPr>
              <a:t>A pragmatic decision to move to bucketing was made so as to facilitate managerial hiring decisions: “is the prediction meaningful for decisions?”  Logistic regression was the logical choice for such a categorical prediction.</a:t>
            </a:r>
            <a:endParaRPr sz="14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Next Steps</a:t>
            </a:r>
            <a:endParaRPr b="1"/>
          </a:p>
        </p:txBody>
      </p:sp>
      <p:sp>
        <p:nvSpPr>
          <p:cNvPr id="235" name="Google Shape;235;p43"/>
          <p:cNvSpPr txBox="1"/>
          <p:nvPr>
            <p:ph idx="1" type="body"/>
          </p:nvPr>
        </p:nvSpPr>
        <p:spPr>
          <a:xfrm>
            <a:off x="311700" y="1017725"/>
            <a:ext cx="8520600" cy="35514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sz="1400">
                <a:solidFill>
                  <a:schemeClr val="dk1"/>
                </a:solidFill>
              </a:rPr>
              <a:t>Implement Advanced Time-Series Modeling:</a:t>
            </a:r>
            <a:endParaRPr b="1" sz="1400">
              <a:solidFill>
                <a:schemeClr val="dk1"/>
              </a:solidFill>
            </a:endParaRPr>
          </a:p>
          <a:p>
            <a:pPr indent="-317500" lvl="0" marL="914400" rtl="0" algn="l">
              <a:spcBef>
                <a:spcPts val="0"/>
              </a:spcBef>
              <a:spcAft>
                <a:spcPts val="0"/>
              </a:spcAft>
              <a:buClr>
                <a:schemeClr val="dk1"/>
              </a:buClr>
              <a:buSzPts val="1400"/>
              <a:buChar char="●"/>
            </a:pPr>
            <a:r>
              <a:rPr lang="en" sz="1400">
                <a:solidFill>
                  <a:schemeClr val="dk1"/>
                </a:solidFill>
              </a:rPr>
              <a:t>Investigate models designed specifically for sequences, such as Recurrent Neural Networks (RNNs), which may better capture complex temporal dependencies in the keyword data than Logistic Regression.</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Model Retraining:</a:t>
            </a:r>
            <a:endParaRPr b="1" sz="1400">
              <a:solidFill>
                <a:schemeClr val="dk1"/>
              </a:solidFill>
            </a:endParaRPr>
          </a:p>
          <a:p>
            <a:pPr indent="-317500" lvl="0" marL="914400" rtl="0" algn="l">
              <a:spcBef>
                <a:spcPts val="0"/>
              </a:spcBef>
              <a:spcAft>
                <a:spcPts val="0"/>
              </a:spcAft>
              <a:buClr>
                <a:schemeClr val="dk1"/>
              </a:buClr>
              <a:buSzPts val="1400"/>
              <a:buChar char="●"/>
            </a:pPr>
            <a:r>
              <a:rPr lang="en" sz="1400">
                <a:solidFill>
                  <a:schemeClr val="dk1"/>
                </a:solidFill>
              </a:rPr>
              <a:t>Implement a system for periodic model retraining to combat data drift, using only the most recent and relevant data for fitting.</a:t>
            </a:r>
            <a:endParaRPr sz="1400">
              <a:solidFill>
                <a:schemeClr val="dk1"/>
              </a:solidFill>
            </a:endParaRPr>
          </a:p>
          <a:p>
            <a:pPr indent="-317500" lvl="0" marL="914400" rtl="0" algn="l">
              <a:spcBef>
                <a:spcPts val="0"/>
              </a:spcBef>
              <a:spcAft>
                <a:spcPts val="0"/>
              </a:spcAft>
              <a:buClr>
                <a:schemeClr val="dk1"/>
              </a:buClr>
              <a:buSzPts val="1400"/>
              <a:buChar char="●"/>
            </a:pPr>
            <a:r>
              <a:rPr lang="en" sz="1400">
                <a:solidFill>
                  <a:schemeClr val="dk1"/>
                </a:solidFill>
              </a:rPr>
              <a:t>Potential options include a rolling training window, training the model on a much more narrow window. </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Feature Engineering Expansion:</a:t>
            </a:r>
            <a:endParaRPr b="1" sz="1400">
              <a:solidFill>
                <a:schemeClr val="dk1"/>
              </a:solidFill>
            </a:endParaRPr>
          </a:p>
          <a:p>
            <a:pPr indent="-317500" lvl="0" marL="914400" rtl="0" algn="l">
              <a:spcBef>
                <a:spcPts val="0"/>
              </a:spcBef>
              <a:spcAft>
                <a:spcPts val="0"/>
              </a:spcAft>
              <a:buClr>
                <a:schemeClr val="dk1"/>
              </a:buClr>
              <a:buSzPts val="1400"/>
              <a:buChar char="●"/>
            </a:pPr>
            <a:r>
              <a:rPr lang="en" sz="1400">
                <a:solidFill>
                  <a:schemeClr val="dk1"/>
                </a:solidFill>
              </a:rPr>
              <a:t>Experiment with alternative features, such as integrating the previous week's actual alert bucket as a lagged feature.</a:t>
            </a:r>
            <a:endParaRPr sz="1400">
              <a:solidFill>
                <a:schemeClr val="dk1"/>
              </a:solidFill>
            </a:endParaRPr>
          </a:p>
          <a:p>
            <a:pPr indent="-317500" lvl="0" marL="914400" rtl="0" algn="l">
              <a:spcBef>
                <a:spcPts val="0"/>
              </a:spcBef>
              <a:spcAft>
                <a:spcPts val="0"/>
              </a:spcAft>
              <a:buClr>
                <a:schemeClr val="dk1"/>
              </a:buClr>
              <a:buSzPts val="1400"/>
              <a:buChar char="●"/>
            </a:pPr>
            <a:r>
              <a:rPr lang="en" sz="1400">
                <a:solidFill>
                  <a:schemeClr val="dk1"/>
                </a:solidFill>
              </a:rPr>
              <a:t>Experiment with grouping the counts by shorter periods, increasing the number of observations and giving the </a:t>
            </a:r>
            <a:r>
              <a:rPr lang="en" sz="1400">
                <a:solidFill>
                  <a:schemeClr val="dk1"/>
                </a:solidFill>
              </a:rPr>
              <a:t>model increased information.</a:t>
            </a:r>
            <a:endParaRPr sz="1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4"/>
          <p:cNvSpPr txBox="1"/>
          <p:nvPr>
            <p:ph type="title"/>
          </p:nvPr>
        </p:nvSpPr>
        <p:spPr>
          <a:xfrm>
            <a:off x="273875" y="208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Team Contributions</a:t>
            </a:r>
            <a:endParaRPr b="1"/>
          </a:p>
        </p:txBody>
      </p:sp>
      <p:sp>
        <p:nvSpPr>
          <p:cNvPr id="241" name="Google Shape;241;p44"/>
          <p:cNvSpPr txBox="1"/>
          <p:nvPr>
            <p:ph idx="1" type="body"/>
          </p:nvPr>
        </p:nvSpPr>
        <p:spPr>
          <a:xfrm>
            <a:off x="273875" y="743525"/>
            <a:ext cx="8520600" cy="3551400"/>
          </a:xfrm>
          <a:prstGeom prst="rect">
            <a:avLst/>
          </a:prstGeom>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b="1" lang="en" sz="1400">
                <a:solidFill>
                  <a:schemeClr val="dk1"/>
                </a:solidFill>
              </a:rPr>
              <a:t>Kristi Gibson:</a:t>
            </a:r>
            <a:endParaRPr b="1"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Built the GDELT article scraping pipeline, generating an initial dataset of 56,000 URLs</a:t>
            </a:r>
            <a:r>
              <a:rPr lang="en" sz="1400">
                <a:solidFill>
                  <a:schemeClr val="dk1"/>
                </a:solidFill>
              </a:rPr>
              <a:t>, </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Constructed the </a:t>
            </a:r>
            <a:r>
              <a:rPr lang="en" sz="1400">
                <a:solidFill>
                  <a:schemeClr val="dk1"/>
                </a:solidFill>
              </a:rPr>
              <a:t>initial multinomial logistic regression model with titles and </a:t>
            </a:r>
            <a:r>
              <a:rPr lang="en">
                <a:solidFill>
                  <a:schemeClr val="dk1"/>
                </a:solidFill>
              </a:rPr>
              <a:t>implemented </a:t>
            </a:r>
            <a:r>
              <a:rPr lang="en" sz="1400">
                <a:solidFill>
                  <a:schemeClr val="dk1"/>
                </a:solidFill>
              </a:rPr>
              <a:t>TF-IDF vectorization feature engineering</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Comprehensively maintained all documentation throughout the project’s lifespan.</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Brad Gordon:</a:t>
            </a:r>
            <a:endParaRPr b="1"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Built </a:t>
            </a:r>
            <a:r>
              <a:rPr lang="en">
                <a:solidFill>
                  <a:schemeClr val="dk1"/>
                </a:solidFill>
              </a:rPr>
              <a:t>and performed initial article scraping pipeline, using a Google search.</a:t>
            </a:r>
            <a:endParaRPr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Constructed</a:t>
            </a:r>
            <a:r>
              <a:rPr lang="en" sz="1400">
                <a:solidFill>
                  <a:schemeClr val="dk1"/>
                </a:solidFill>
              </a:rPr>
              <a:t> the initial modeling pipelines, which included Random Forest, Poisson, </a:t>
            </a:r>
            <a:r>
              <a:rPr lang="en">
                <a:solidFill>
                  <a:schemeClr val="dk1"/>
                </a:solidFill>
              </a:rPr>
              <a:t>Negative Binomial</a:t>
            </a:r>
            <a:r>
              <a:rPr lang="en" sz="1400">
                <a:solidFill>
                  <a:schemeClr val="dk1"/>
                </a:solidFill>
              </a:rPr>
              <a:t>, and </a:t>
            </a:r>
            <a:r>
              <a:rPr lang="en">
                <a:solidFill>
                  <a:schemeClr val="dk1"/>
                </a:solidFill>
              </a:rPr>
              <a:t>Gradient Boosting Algorithms.</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Cheyanne Allred-Lopez: </a:t>
            </a:r>
            <a:endParaRPr b="1"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Refined the </a:t>
            </a:r>
            <a:r>
              <a:rPr lang="en">
                <a:solidFill>
                  <a:schemeClr val="dk1"/>
                </a:solidFill>
              </a:rPr>
              <a:t>article scraping pipeline and conducted scraping on aggregated GDELT articles, performing error handling and data cleansing as needed to finalize the dataset.</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Implemented lemmatization, </a:t>
            </a:r>
            <a:r>
              <a:rPr lang="en">
                <a:solidFill>
                  <a:schemeClr val="dk1"/>
                </a:solidFill>
              </a:rPr>
              <a:t>principal</a:t>
            </a:r>
            <a:r>
              <a:rPr lang="en">
                <a:solidFill>
                  <a:schemeClr val="dk1"/>
                </a:solidFill>
              </a:rPr>
              <a:t> </a:t>
            </a:r>
            <a:r>
              <a:rPr lang="en">
                <a:solidFill>
                  <a:schemeClr val="dk1"/>
                </a:solidFill>
              </a:rPr>
              <a:t>component</a:t>
            </a:r>
            <a:r>
              <a:rPr lang="en">
                <a:solidFill>
                  <a:schemeClr val="dk1"/>
                </a:solidFill>
              </a:rPr>
              <a:t> analysis, and hyperparameter tuning on the multinomial logistic regression pipeline.</a:t>
            </a:r>
            <a:endParaRPr sz="1400">
              <a:solidFill>
                <a:schemeClr val="dk1"/>
              </a:solidFill>
            </a:endParaRPr>
          </a:p>
          <a:p>
            <a:pPr indent="-317500" lvl="0" marL="457200" rtl="0" algn="l">
              <a:spcBef>
                <a:spcPts val="0"/>
              </a:spcBef>
              <a:spcAft>
                <a:spcPts val="0"/>
              </a:spcAft>
              <a:buClr>
                <a:schemeClr val="dk1"/>
              </a:buClr>
              <a:buSzPts val="1400"/>
              <a:buChar char="●"/>
            </a:pPr>
            <a:r>
              <a:rPr b="1" lang="en" sz="1400">
                <a:solidFill>
                  <a:schemeClr val="dk1"/>
                </a:solidFill>
              </a:rPr>
              <a:t>Patrick Brooks: </a:t>
            </a:r>
            <a:endParaRPr b="1" sz="1400">
              <a:solidFill>
                <a:schemeClr val="dk1"/>
              </a:solidFill>
            </a:endParaRPr>
          </a:p>
          <a:p>
            <a:pPr indent="-317500" lvl="1" marL="914400" rtl="0" algn="l">
              <a:spcBef>
                <a:spcPts val="0"/>
              </a:spcBef>
              <a:spcAft>
                <a:spcPts val="0"/>
              </a:spcAft>
              <a:buClr>
                <a:schemeClr val="dk1"/>
              </a:buClr>
              <a:buSzPts val="1400"/>
              <a:buChar char="○"/>
            </a:pPr>
            <a:r>
              <a:rPr lang="en" sz="1400">
                <a:solidFill>
                  <a:schemeClr val="dk1"/>
                </a:solidFill>
              </a:rPr>
              <a:t>Provided initial target variable counts and previous R code as a reference.</a:t>
            </a:r>
            <a:endParaRPr sz="14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457200" rtl="0" algn="l">
              <a:spcBef>
                <a:spcPts val="1200"/>
              </a:spcBef>
              <a:spcAft>
                <a:spcPts val="1200"/>
              </a:spcAft>
              <a:buNone/>
            </a:pPr>
            <a:r>
              <a:t/>
            </a:r>
            <a:endParaRPr sz="14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a:t>Support</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#2: Lemmatization</a:t>
            </a:r>
            <a:endParaRPr b="1"/>
          </a:p>
        </p:txBody>
      </p:sp>
      <p:sp>
        <p:nvSpPr>
          <p:cNvPr id="252" name="Google Shape;252;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Model:</a:t>
            </a:r>
            <a:endParaRPr b="1"/>
          </a:p>
          <a:p>
            <a:pPr indent="-317500" lvl="1" marL="914400" rtl="0" algn="l">
              <a:spcBef>
                <a:spcPts val="0"/>
              </a:spcBef>
              <a:spcAft>
                <a:spcPts val="0"/>
              </a:spcAft>
              <a:buSzPts val="1400"/>
              <a:buChar char="○"/>
            </a:pPr>
            <a:r>
              <a:rPr lang="en"/>
              <a:t>M</a:t>
            </a:r>
            <a:r>
              <a:rPr lang="en"/>
              <a:t>ulti-class logistic regression model on lemmatized TF-IDF features. Default L2 regularization</a:t>
            </a:r>
            <a:endParaRPr/>
          </a:p>
          <a:p>
            <a:pPr indent="-342900" lvl="0" marL="457200" rtl="0" algn="l">
              <a:spcBef>
                <a:spcPts val="0"/>
              </a:spcBef>
              <a:spcAft>
                <a:spcPts val="0"/>
              </a:spcAft>
              <a:buSzPts val="1800"/>
              <a:buChar char="●"/>
            </a:pPr>
            <a:r>
              <a:rPr b="1" lang="en"/>
              <a:t>Performance:</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Char char="●"/>
            </a:pPr>
            <a:r>
              <a:rPr b="1" lang="en"/>
              <a:t>Insight: </a:t>
            </a:r>
            <a:endParaRPr b="1"/>
          </a:p>
          <a:p>
            <a:pPr indent="-317500" lvl="1" marL="914400" rtl="0" algn="l">
              <a:spcBef>
                <a:spcPts val="0"/>
              </a:spcBef>
              <a:spcAft>
                <a:spcPts val="0"/>
              </a:spcAft>
              <a:buSzPts val="1400"/>
              <a:buChar char="○"/>
            </a:pPr>
            <a:r>
              <a:rPr lang="en"/>
              <a:t>The model still appears overfit, as illustrated by the marked decrease in all metrics between the training and testing set. </a:t>
            </a:r>
            <a:endParaRPr/>
          </a:p>
        </p:txBody>
      </p:sp>
      <p:graphicFrame>
        <p:nvGraphicFramePr>
          <p:cNvPr id="253" name="Google Shape;253;p46"/>
          <p:cNvGraphicFramePr/>
          <p:nvPr/>
        </p:nvGraphicFramePr>
        <p:xfrm>
          <a:off x="2262188" y="2174875"/>
          <a:ext cx="3000000" cy="3000000"/>
        </p:xfrm>
        <a:graphic>
          <a:graphicData uri="http://schemas.openxmlformats.org/drawingml/2006/table">
            <a:tbl>
              <a:tblPr>
                <a:noFill/>
                <a:tableStyleId>{9598941D-8F32-4270-B873-EF2828425004}</a:tableStyleId>
              </a:tblPr>
              <a:tblGrid>
                <a:gridCol w="1628775"/>
                <a:gridCol w="1495425"/>
                <a:gridCol w="1495425"/>
              </a:tblGrid>
              <a:tr h="342900">
                <a:tc>
                  <a:txBody>
                    <a:bodyPr/>
                    <a:lstStyle/>
                    <a:p>
                      <a:pPr indent="0" lvl="0" marL="0" rtl="0" algn="l">
                        <a:lnSpc>
                          <a:spcPct val="115000"/>
                        </a:lnSpc>
                        <a:spcBef>
                          <a:spcPts val="0"/>
                        </a:spcBef>
                        <a:spcAft>
                          <a:spcPts val="0"/>
                        </a:spcAft>
                        <a:buNone/>
                      </a:pPr>
                      <a:r>
                        <a:rPr b="1" lang="en"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F1-Weighted Score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85.4%</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24.9%</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F1-Macro Score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52.9%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13.1%</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Accuracy</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87.9%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22.5%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#2: Testing</a:t>
            </a:r>
            <a:endParaRPr b="1"/>
          </a:p>
        </p:txBody>
      </p:sp>
      <p:pic>
        <p:nvPicPr>
          <p:cNvPr id="259" name="Google Shape;259;p47" title="Screenshot 2025-12-03 at 2.29.31 PM.png"/>
          <p:cNvPicPr preferRelativeResize="0"/>
          <p:nvPr/>
        </p:nvPicPr>
        <p:blipFill>
          <a:blip r:embed="rId3">
            <a:alphaModFix/>
          </a:blip>
          <a:stretch>
            <a:fillRect/>
          </a:stretch>
        </p:blipFill>
        <p:spPr>
          <a:xfrm>
            <a:off x="152400" y="1452225"/>
            <a:ext cx="8839201" cy="291505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Performance (So Far) </a:t>
            </a:r>
            <a:endParaRPr b="1"/>
          </a:p>
        </p:txBody>
      </p:sp>
      <p:graphicFrame>
        <p:nvGraphicFramePr>
          <p:cNvPr id="265" name="Google Shape;265;p48"/>
          <p:cNvGraphicFramePr/>
          <p:nvPr/>
        </p:nvGraphicFramePr>
        <p:xfrm>
          <a:off x="2262175" y="1613900"/>
          <a:ext cx="3000000" cy="3000000"/>
        </p:xfrm>
        <a:graphic>
          <a:graphicData uri="http://schemas.openxmlformats.org/drawingml/2006/table">
            <a:tbl>
              <a:tblPr>
                <a:noFill/>
                <a:tableStyleId>{9598941D-8F32-4270-B873-EF2828425004}</a:tableStyleId>
              </a:tblPr>
              <a:tblGrid>
                <a:gridCol w="1628775"/>
                <a:gridCol w="1495425"/>
                <a:gridCol w="1495425"/>
              </a:tblGrid>
              <a:tr h="342900">
                <a:tc gridSpan="3">
                  <a:txBody>
                    <a:bodyPr/>
                    <a:lstStyle/>
                    <a:p>
                      <a:pPr indent="0" lvl="0" marL="0" rtl="0" algn="ctr">
                        <a:lnSpc>
                          <a:spcPct val="115000"/>
                        </a:lnSpc>
                        <a:spcBef>
                          <a:spcPts val="0"/>
                        </a:spcBef>
                        <a:spcAft>
                          <a:spcPts val="0"/>
                        </a:spcAft>
                        <a:buNone/>
                      </a:pPr>
                      <a:r>
                        <a:rPr b="1" lang="en" sz="1100">
                          <a:solidFill>
                            <a:srgbClr val="1F1F1F"/>
                          </a:solidFill>
                        </a:rPr>
                        <a:t>F1-Weighted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86.5%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15.9%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85.4%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24.9%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gridSpan="3">
                  <a:txBody>
                    <a:bodyPr/>
                    <a:lstStyle/>
                    <a:p>
                      <a:pPr indent="0" lvl="0" marL="0" rtl="0" algn="ctr">
                        <a:lnSpc>
                          <a:spcPct val="115000"/>
                        </a:lnSpc>
                        <a:spcBef>
                          <a:spcPts val="0"/>
                        </a:spcBef>
                        <a:spcAft>
                          <a:spcPts val="0"/>
                        </a:spcAft>
                        <a:buNone/>
                      </a:pPr>
                      <a:r>
                        <a:rPr b="1" lang="en" sz="1100">
                          <a:solidFill>
                            <a:srgbClr val="1F1F1F"/>
                          </a:solidFill>
                        </a:rPr>
                        <a:t>Accuracy</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l">
                        <a:lnSpc>
                          <a:spcPct val="115000"/>
                        </a:lnSpc>
                        <a:spcBef>
                          <a:spcPts val="0"/>
                        </a:spcBef>
                        <a:spcAft>
                          <a:spcPts val="0"/>
                        </a:spcAft>
                        <a:buNone/>
                      </a:pPr>
                      <a:r>
                        <a:rPr b="1" lang="en" sz="1100">
                          <a:solidFill>
                            <a:srgbClr val="1F1F1F"/>
                          </a:solidFill>
                        </a:rPr>
                        <a:t>Baseline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60.8% Overall Fit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88.5%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15.0%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87.9%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22.5%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#3: Lemmatization + Regularization</a:t>
            </a:r>
            <a:endParaRPr b="1"/>
          </a:p>
        </p:txBody>
      </p:sp>
      <p:sp>
        <p:nvSpPr>
          <p:cNvPr id="271" name="Google Shape;271;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Model Tuning:</a:t>
            </a:r>
            <a:endParaRPr b="1"/>
          </a:p>
          <a:p>
            <a:pPr indent="-317500" lvl="1" marL="914400" rtl="0" algn="l">
              <a:spcBef>
                <a:spcPts val="0"/>
              </a:spcBef>
              <a:spcAft>
                <a:spcPts val="0"/>
              </a:spcAft>
              <a:buSzPts val="1400"/>
              <a:buChar char="○"/>
            </a:pPr>
            <a:r>
              <a:rPr lang="en"/>
              <a:t>Optimal Parameter: C = 10.0</a:t>
            </a:r>
            <a:endParaRPr/>
          </a:p>
          <a:p>
            <a:pPr indent="-342900" lvl="0" marL="457200" rtl="0" algn="l">
              <a:spcBef>
                <a:spcPts val="0"/>
              </a:spcBef>
              <a:spcAft>
                <a:spcPts val="0"/>
              </a:spcAft>
              <a:buSzPts val="1800"/>
              <a:buChar char="●"/>
            </a:pPr>
            <a:r>
              <a:rPr b="1" lang="en"/>
              <a:t>Performance:</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Char char="●"/>
            </a:pPr>
            <a:r>
              <a:rPr b="1" lang="en"/>
              <a:t>Insight: </a:t>
            </a:r>
            <a:endParaRPr b="1"/>
          </a:p>
          <a:p>
            <a:pPr indent="-317500" lvl="1" marL="914400" rtl="0" algn="l">
              <a:spcBef>
                <a:spcPts val="0"/>
              </a:spcBef>
              <a:spcAft>
                <a:spcPts val="0"/>
              </a:spcAft>
              <a:buSzPts val="1400"/>
              <a:buChar char="○"/>
            </a:pPr>
            <a:r>
              <a:rPr lang="en"/>
              <a:t>The trained model demonstrates the worst level of overfitting; however, it demonstrates the highest level of performance on the testing set.</a:t>
            </a:r>
            <a:endParaRPr/>
          </a:p>
        </p:txBody>
      </p:sp>
      <p:graphicFrame>
        <p:nvGraphicFramePr>
          <p:cNvPr id="272" name="Google Shape;272;p49"/>
          <p:cNvGraphicFramePr/>
          <p:nvPr/>
        </p:nvGraphicFramePr>
        <p:xfrm>
          <a:off x="2262188" y="2174875"/>
          <a:ext cx="3000000" cy="3000000"/>
        </p:xfrm>
        <a:graphic>
          <a:graphicData uri="http://schemas.openxmlformats.org/drawingml/2006/table">
            <a:tbl>
              <a:tblPr>
                <a:noFill/>
                <a:tableStyleId>{9598941D-8F32-4270-B873-EF2828425004}</a:tableStyleId>
              </a:tblPr>
              <a:tblGrid>
                <a:gridCol w="1628775"/>
                <a:gridCol w="1495425"/>
                <a:gridCol w="1495425"/>
              </a:tblGrid>
              <a:tr h="342900">
                <a:tc>
                  <a:txBody>
                    <a:bodyPr/>
                    <a:lstStyle/>
                    <a:p>
                      <a:pPr indent="0" lvl="0" marL="0" rtl="0" algn="l">
                        <a:lnSpc>
                          <a:spcPct val="115000"/>
                        </a:lnSpc>
                        <a:spcBef>
                          <a:spcPts val="0"/>
                        </a:spcBef>
                        <a:spcAft>
                          <a:spcPts val="0"/>
                        </a:spcAft>
                        <a:buNone/>
                      </a:pPr>
                      <a:r>
                        <a:rPr b="1" lang="en"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F1-Weighted Score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100%</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b="1" lang="en" sz="1100">
                          <a:solidFill>
                            <a:srgbClr val="1F1F1F"/>
                          </a:solidFill>
                        </a:rPr>
                        <a:t>40.7%</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F1-Macro Score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lang="en" sz="1100">
                          <a:solidFill>
                            <a:srgbClr val="1F1F1F"/>
                          </a:solidFill>
                        </a:rPr>
                        <a:t>Accuracy</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50.0%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#3: Testing</a:t>
            </a:r>
            <a:endParaRPr b="1"/>
          </a:p>
        </p:txBody>
      </p:sp>
      <p:pic>
        <p:nvPicPr>
          <p:cNvPr id="278" name="Google Shape;278;p50" title="Screenshot 2025-12-03 at 3.11.52 PM.png"/>
          <p:cNvPicPr preferRelativeResize="0"/>
          <p:nvPr/>
        </p:nvPicPr>
        <p:blipFill>
          <a:blip r:embed="rId3">
            <a:alphaModFix/>
          </a:blip>
          <a:stretch>
            <a:fillRect/>
          </a:stretch>
        </p:blipFill>
        <p:spPr>
          <a:xfrm>
            <a:off x="152400" y="1367600"/>
            <a:ext cx="8839201" cy="291505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Model Performance </a:t>
            </a:r>
            <a:endParaRPr b="1"/>
          </a:p>
        </p:txBody>
      </p:sp>
      <p:graphicFrame>
        <p:nvGraphicFramePr>
          <p:cNvPr id="284" name="Google Shape;284;p51"/>
          <p:cNvGraphicFramePr/>
          <p:nvPr/>
        </p:nvGraphicFramePr>
        <p:xfrm>
          <a:off x="2262188" y="1310850"/>
          <a:ext cx="3000000" cy="3000000"/>
        </p:xfrm>
        <a:graphic>
          <a:graphicData uri="http://schemas.openxmlformats.org/drawingml/2006/table">
            <a:tbl>
              <a:tblPr>
                <a:noFill/>
                <a:tableStyleId>{9598941D-8F32-4270-B873-EF2828425004}</a:tableStyleId>
              </a:tblPr>
              <a:tblGrid>
                <a:gridCol w="1628775"/>
                <a:gridCol w="1495425"/>
                <a:gridCol w="1495425"/>
              </a:tblGrid>
              <a:tr h="342900">
                <a:tc gridSpan="3">
                  <a:txBody>
                    <a:bodyPr/>
                    <a:lstStyle/>
                    <a:p>
                      <a:pPr indent="0" lvl="0" marL="0" rtl="0" algn="ctr">
                        <a:lnSpc>
                          <a:spcPct val="115000"/>
                        </a:lnSpc>
                        <a:spcBef>
                          <a:spcPts val="0"/>
                        </a:spcBef>
                        <a:spcAft>
                          <a:spcPts val="0"/>
                        </a:spcAft>
                        <a:buNone/>
                      </a:pPr>
                      <a:r>
                        <a:rPr b="1" lang="en" sz="1100">
                          <a:solidFill>
                            <a:srgbClr val="1F1F1F"/>
                          </a:solidFill>
                        </a:rPr>
                        <a:t>F1-Weighted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l">
                        <a:lnSpc>
                          <a:spcPct val="115000"/>
                        </a:lnSpc>
                        <a:spcBef>
                          <a:spcPts val="0"/>
                        </a:spcBef>
                        <a:spcAft>
                          <a:spcPts val="0"/>
                        </a:spcAft>
                        <a:buNone/>
                      </a:pPr>
                      <a:r>
                        <a:rPr b="1" lang="en" sz="1100">
                          <a:solidFill>
                            <a:srgbClr val="1F1F1F"/>
                          </a:solidFill>
                        </a:rPr>
                        <a:t>Model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86.5%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15.9%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85.4%</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24.9%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40.7%</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gridSpan="3">
                  <a:txBody>
                    <a:bodyPr/>
                    <a:lstStyle/>
                    <a:p>
                      <a:pPr indent="0" lvl="0" marL="0" rtl="0" algn="ctr">
                        <a:lnSpc>
                          <a:spcPct val="115000"/>
                        </a:lnSpc>
                        <a:spcBef>
                          <a:spcPts val="0"/>
                        </a:spcBef>
                        <a:spcAft>
                          <a:spcPts val="0"/>
                        </a:spcAft>
                        <a:buNone/>
                      </a:pPr>
                      <a:r>
                        <a:rPr b="1" lang="en" sz="1100">
                          <a:solidFill>
                            <a:srgbClr val="1F1F1F"/>
                          </a:solidFill>
                        </a:rPr>
                        <a:t>Accuracy</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hMerge="1"/>
                <a:tc hMerge="1"/>
              </a:tr>
              <a:tr h="342900">
                <a:tc>
                  <a:txBody>
                    <a:bodyPr/>
                    <a:lstStyle/>
                    <a:p>
                      <a:pPr indent="0" lvl="0" marL="0" rtl="0" algn="l">
                        <a:lnSpc>
                          <a:spcPct val="115000"/>
                        </a:lnSpc>
                        <a:spcBef>
                          <a:spcPts val="0"/>
                        </a:spcBef>
                        <a:spcAft>
                          <a:spcPts val="0"/>
                        </a:spcAft>
                        <a:buNone/>
                      </a:pPr>
                      <a:r>
                        <a:rPr b="1" lang="en" sz="1100">
                          <a:solidFill>
                            <a:srgbClr val="1F1F1F"/>
                          </a:solidFill>
                        </a:rPr>
                        <a:t>Baseline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60.8% Overall Fit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#1</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88.5%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15.0%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#2</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87.9%</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22.5%</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l">
                        <a:lnSpc>
                          <a:spcPct val="115000"/>
                        </a:lnSpc>
                        <a:spcBef>
                          <a:spcPts val="0"/>
                        </a:spcBef>
                        <a:spcAft>
                          <a:spcPts val="0"/>
                        </a:spcAft>
                        <a:buNone/>
                      </a:pPr>
                      <a:r>
                        <a:rPr b="1" lang="en" sz="1100">
                          <a:solidFill>
                            <a:srgbClr val="1F1F1F"/>
                          </a:solidFill>
                        </a:rPr>
                        <a:t>Log Reg Model #3</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100%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l">
                        <a:lnSpc>
                          <a:spcPct val="115000"/>
                        </a:lnSpc>
                        <a:spcBef>
                          <a:spcPts val="0"/>
                        </a:spcBef>
                        <a:spcAft>
                          <a:spcPts val="0"/>
                        </a:spcAft>
                        <a:buNone/>
                      </a:pPr>
                      <a:r>
                        <a:rPr lang="en" sz="1100">
                          <a:solidFill>
                            <a:srgbClr val="1F1F1F"/>
                          </a:solidFill>
                        </a:rPr>
                        <a:t>50.0%</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#4: Lemmatization, Regularization, PCA</a:t>
            </a:r>
            <a:endParaRPr b="1"/>
          </a:p>
        </p:txBody>
      </p:sp>
      <p:sp>
        <p:nvSpPr>
          <p:cNvPr id="290" name="Google Shape;290;p52"/>
          <p:cNvSpPr txBox="1"/>
          <p:nvPr>
            <p:ph idx="1" type="body"/>
          </p:nvPr>
        </p:nvSpPr>
        <p:spPr>
          <a:xfrm>
            <a:off x="311700" y="135450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Model Tuning:</a:t>
            </a:r>
            <a:endParaRPr b="1"/>
          </a:p>
          <a:p>
            <a:pPr indent="-317500" lvl="1" marL="914400" rtl="0" algn="l">
              <a:spcBef>
                <a:spcPts val="0"/>
              </a:spcBef>
              <a:spcAft>
                <a:spcPts val="0"/>
              </a:spcAft>
              <a:buSzPts val="1400"/>
              <a:buChar char="○"/>
            </a:pPr>
            <a:r>
              <a:rPr lang="en"/>
              <a:t>Optimal parameter: C = 0.01, n_components = 5</a:t>
            </a:r>
            <a:endParaRPr/>
          </a:p>
          <a:p>
            <a:pPr indent="-342900" lvl="0" marL="457200" rtl="0" algn="l">
              <a:spcBef>
                <a:spcPts val="0"/>
              </a:spcBef>
              <a:spcAft>
                <a:spcPts val="0"/>
              </a:spcAft>
              <a:buSzPts val="1800"/>
              <a:buChar char="●"/>
            </a:pPr>
            <a:r>
              <a:rPr b="1" lang="en"/>
              <a:t>Performance:</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0" lvl="0" marL="457200" rtl="0" algn="l">
              <a:spcBef>
                <a:spcPts val="1200"/>
              </a:spcBef>
              <a:spcAft>
                <a:spcPts val="0"/>
              </a:spcAft>
              <a:buNone/>
            </a:pPr>
            <a:r>
              <a:t/>
            </a:r>
            <a:endParaRPr b="1"/>
          </a:p>
          <a:p>
            <a:pPr indent="-342900" lvl="0" marL="457200" rtl="0" algn="l">
              <a:spcBef>
                <a:spcPts val="1200"/>
              </a:spcBef>
              <a:spcAft>
                <a:spcPts val="0"/>
              </a:spcAft>
              <a:buSzPts val="1800"/>
              <a:buChar char="●"/>
            </a:pPr>
            <a:r>
              <a:rPr b="1" lang="en"/>
              <a:t>Insight: </a:t>
            </a:r>
            <a:endParaRPr b="1"/>
          </a:p>
          <a:p>
            <a:pPr indent="-317500" lvl="1" marL="914400" rtl="0" algn="l">
              <a:spcBef>
                <a:spcPts val="0"/>
              </a:spcBef>
              <a:spcAft>
                <a:spcPts val="0"/>
              </a:spcAft>
              <a:buClr>
                <a:schemeClr val="dk1"/>
              </a:buClr>
              <a:buSzPts val="1400"/>
              <a:buChar char="○"/>
            </a:pPr>
            <a:r>
              <a:rPr lang="en">
                <a:solidFill>
                  <a:schemeClr val="dk1"/>
                </a:solidFill>
              </a:rPr>
              <a:t>The trained model demonstrates poor fit to the training set. PCA Dimensionality Reduction reduced the fit closeness but appears to have better generalized the model. </a:t>
            </a:r>
            <a:endParaRPr>
              <a:solidFill>
                <a:schemeClr val="dk1"/>
              </a:solidFill>
            </a:endParaRPr>
          </a:p>
        </p:txBody>
      </p:sp>
      <p:graphicFrame>
        <p:nvGraphicFramePr>
          <p:cNvPr id="291" name="Google Shape;291;p52"/>
          <p:cNvGraphicFramePr/>
          <p:nvPr/>
        </p:nvGraphicFramePr>
        <p:xfrm>
          <a:off x="2262175" y="2376900"/>
          <a:ext cx="3000000" cy="3000000"/>
        </p:xfrm>
        <a:graphic>
          <a:graphicData uri="http://schemas.openxmlformats.org/drawingml/2006/table">
            <a:tbl>
              <a:tblPr>
                <a:noFill/>
                <a:tableStyleId>{9598941D-8F32-4270-B873-EF2828425004}</a:tableStyleId>
              </a:tblPr>
              <a:tblGrid>
                <a:gridCol w="1628775"/>
                <a:gridCol w="1495425"/>
                <a:gridCol w="1495425"/>
              </a:tblGrid>
              <a:tr h="342900">
                <a:tc>
                  <a:txBody>
                    <a:bodyPr/>
                    <a:lstStyle/>
                    <a:p>
                      <a:pPr indent="0" lvl="0" marL="0" rtl="0" algn="ctr">
                        <a:lnSpc>
                          <a:spcPct val="115000"/>
                        </a:lnSpc>
                        <a:spcBef>
                          <a:spcPts val="0"/>
                        </a:spcBef>
                        <a:spcAft>
                          <a:spcPts val="0"/>
                        </a:spcAft>
                        <a:buNone/>
                      </a:pPr>
                      <a:r>
                        <a:rPr b="1" lang="en"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Training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ctr">
                        <a:lnSpc>
                          <a:spcPct val="115000"/>
                        </a:lnSpc>
                        <a:spcBef>
                          <a:spcPts val="0"/>
                        </a:spcBef>
                        <a:spcAft>
                          <a:spcPts val="0"/>
                        </a:spcAft>
                        <a:buNone/>
                      </a:pPr>
                      <a:r>
                        <a:rPr b="1" lang="en" sz="1100">
                          <a:solidFill>
                            <a:srgbClr val="1F1F1F"/>
                          </a:solidFill>
                        </a:rPr>
                        <a:t>Testing Set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342900">
                <a:tc>
                  <a:txBody>
                    <a:bodyPr/>
                    <a:lstStyle/>
                    <a:p>
                      <a:pPr indent="0" lvl="0" marL="0" rtl="0" algn="ctr">
                        <a:lnSpc>
                          <a:spcPct val="115000"/>
                        </a:lnSpc>
                        <a:spcBef>
                          <a:spcPts val="0"/>
                        </a:spcBef>
                        <a:spcAft>
                          <a:spcPts val="0"/>
                        </a:spcAft>
                        <a:buNone/>
                      </a:pPr>
                      <a:r>
                        <a:rPr b="1" lang="en" sz="1100">
                          <a:solidFill>
                            <a:srgbClr val="1F1F1F"/>
                          </a:solidFill>
                        </a:rPr>
                        <a:t>F1-Weighted Score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b="1" lang="en" sz="1100"/>
                        <a:t>55.2%</a:t>
                      </a:r>
                      <a:endParaRPr b="1"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b="1" lang="en" sz="1100"/>
                        <a:t>46.7%</a:t>
                      </a:r>
                      <a:endParaRPr b="1"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lang="en" sz="1100">
                          <a:solidFill>
                            <a:srgbClr val="1F1F1F"/>
                          </a:solidFill>
                        </a:rPr>
                        <a:t>F1-Macro Score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lang="en" sz="1100"/>
                        <a:t>38.8%</a:t>
                      </a:r>
                      <a:endParaRPr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lang="en" sz="1100"/>
                        <a:t>21%</a:t>
                      </a:r>
                      <a:endParaRPr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r h="342900">
                <a:tc>
                  <a:txBody>
                    <a:bodyPr/>
                    <a:lstStyle/>
                    <a:p>
                      <a:pPr indent="0" lvl="0" marL="0" rtl="0" algn="ctr">
                        <a:lnSpc>
                          <a:spcPct val="115000"/>
                        </a:lnSpc>
                        <a:spcBef>
                          <a:spcPts val="0"/>
                        </a:spcBef>
                        <a:spcAft>
                          <a:spcPts val="0"/>
                        </a:spcAft>
                        <a:buNone/>
                      </a:pPr>
                      <a:r>
                        <a:rPr lang="en" sz="1100">
                          <a:solidFill>
                            <a:srgbClr val="1F1F1F"/>
                          </a:solidFill>
                        </a:rPr>
                        <a:t>Accuracy</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lang="en" sz="1100"/>
                        <a:t>49.7%</a:t>
                      </a:r>
                      <a:endParaRPr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c>
                  <a:txBody>
                    <a:bodyPr/>
                    <a:lstStyle/>
                    <a:p>
                      <a:pPr indent="0" lvl="0" marL="0" rtl="0" algn="ctr">
                        <a:spcBef>
                          <a:spcPts val="0"/>
                        </a:spcBef>
                        <a:spcAft>
                          <a:spcPts val="0"/>
                        </a:spcAft>
                        <a:buNone/>
                      </a:pPr>
                      <a:r>
                        <a:rPr lang="en" sz="1100"/>
                        <a:t>55.0%</a:t>
                      </a:r>
                      <a:endParaRPr sz="1100"/>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Log Reg Model #4: Testing</a:t>
            </a:r>
            <a:endParaRPr b="1"/>
          </a:p>
        </p:txBody>
      </p:sp>
      <p:pic>
        <p:nvPicPr>
          <p:cNvPr id="297" name="Google Shape;297;p53" title="Screenshot 2025-12-03 at 3.50.10 PM.png"/>
          <p:cNvPicPr preferRelativeResize="0"/>
          <p:nvPr/>
        </p:nvPicPr>
        <p:blipFill>
          <a:blip r:embed="rId3">
            <a:alphaModFix/>
          </a:blip>
          <a:stretch>
            <a:fillRect/>
          </a:stretch>
        </p:blipFill>
        <p:spPr>
          <a:xfrm>
            <a:off x="152400" y="1422100"/>
            <a:ext cx="8839204" cy="28054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